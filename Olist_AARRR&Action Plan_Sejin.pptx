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16E347-049B-463B-9380-E32657B12A47}">
  <a:tblStyle styleId="{1916E347-049B-463B-9380-E32657B12A4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4389120"/>
            <a:ext cx="12161520" cy="2468880"/>
          </a:xfrm>
          <a:prstGeom prst="rect">
            <a:avLst/>
          </a:prstGeom>
          <a:solidFill>
            <a:srgbClr val="131A45"/>
          </a:solidFill>
          <a:ln cap="flat" cmpd="sng" w="12700">
            <a:solidFill>
              <a:srgbClr val="131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플랫폼에서 셀러는 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어떻게 유입되고, 살아남고, 돈을 버는가 </a:t>
            </a:r>
            <a:endParaRPr b="1" sz="38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260604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E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A0B4E0"/>
                </a:solidFill>
                <a:latin typeface="Calibri"/>
                <a:ea typeface="Calibri"/>
                <a:cs typeface="Calibri"/>
                <a:sym typeface="Calibri"/>
              </a:rPr>
              <a:t>채널별 유입부터 LTV 형성까지 —AARRR 프레임워크 기반 Olist 셀러 생애주기 관리 전략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3246120"/>
            <a:ext cx="1920240" cy="3657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14400" y="3246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063240" y="3246120"/>
            <a:ext cx="1920240" cy="36576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063240" y="3246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212080" y="3246120"/>
            <a:ext cx="1920240" cy="3657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212080" y="3246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360920" y="3246120"/>
            <a:ext cx="1920240" cy="3657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360920" y="3246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9509760" y="3246120"/>
            <a:ext cx="1920240" cy="3657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9509760" y="3246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14400" y="470916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E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EB5"/>
                </a:solidFill>
                <a:latin typeface="Calibri"/>
                <a:ea typeface="Calibri"/>
                <a:cs typeface="Calibri"/>
                <a:sym typeface="Calibri"/>
              </a:rPr>
              <a:t>데이터: marketing_sales_base.csv  |  분석 기간: 2017.06 – 2018.05  |  </a:t>
            </a:r>
            <a:r>
              <a:rPr lang="en-US" sz="1100">
                <a:solidFill>
                  <a:srgbClr val="6B7EB5"/>
                </a:solidFill>
                <a:latin typeface="Calibri"/>
                <a:ea typeface="Calibri"/>
                <a:cs typeface="Calibri"/>
                <a:sym typeface="Calibri"/>
              </a:rPr>
              <a:t>오(5)지는 마케팅</a:t>
            </a:r>
            <a:r>
              <a:rPr b="0" i="0" lang="en-US" sz="1100" u="none" cap="none" strike="noStrike">
                <a:solidFill>
                  <a:srgbClr val="6B7EB5"/>
                </a:solidFill>
                <a:latin typeface="Calibri"/>
                <a:ea typeface="Calibri"/>
                <a:cs typeface="Calibri"/>
                <a:sym typeface="Calibri"/>
              </a:rPr>
              <a:t> |  2026.04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분석 데이터 설명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188720"/>
            <a:ext cx="5303520" cy="1371600"/>
          </a:xfrm>
          <a:prstGeom prst="rect">
            <a:avLst/>
          </a:prstGeom>
          <a:solidFill>
            <a:srgbClr val="E8ED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40080" y="129844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📁  분석 파일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1627632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marketing_sales_base.csv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8,000행 × 22컬럼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(mql_leads + closed_deals 병합본)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400800" y="1188720"/>
            <a:ext cx="5303520" cy="1371600"/>
          </a:xfrm>
          <a:prstGeom prst="rect">
            <a:avLst/>
          </a:prstGeom>
          <a:solidFill>
            <a:srgbClr val="E8ED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583680" y="129844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📅  분석 기간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583680" y="1627632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2017년 6월 ~ 2018년 5월 (12개월)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브라질 현지 통화 헤알(R$) 기준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27432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핵심 컬럼 정의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" name="Google Shape;45;p4"/>
          <p:cNvGraphicFramePr/>
          <p:nvPr/>
        </p:nvGraphicFramePr>
        <p:xfrm>
          <a:off x="457200" y="3108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{1916E347-049B-463B-9380-E32657B12A47}</a:tableStyleId>
              </a:tblPr>
              <a:tblGrid>
                <a:gridCol w="2286000"/>
                <a:gridCol w="4572000"/>
                <a:gridCol w="43891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컬럼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설명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값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mql_id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잠재 셀러 고유 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8,000건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마케팅 유입 채널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organic / paid / social 등 10개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is_won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입점 계약 성사 여부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= 성사(842명), 0 = 미성사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has_revenue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실제 매출 발생 여부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= 발생(380명), 0 = 미발생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total_revenue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누적 실매출 (BRL)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활성 셀러 기준 avg 1,781 BRL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total_order_count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누적 주문 건수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활성 셀러 기준 avg 11.9건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first_sale_date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첫 판매 발생일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380건만 유효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lead_behaviour_profile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행동 프로파일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shark / eagle / cat / wolf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본 분석의 AARRR 프레임워크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0B4E0"/>
                </a:solidFill>
                <a:latin typeface="Calibri"/>
                <a:ea typeface="Calibri"/>
                <a:cs typeface="Calibri"/>
                <a:sym typeface="Calibri"/>
              </a:rPr>
              <a:t>채널별 셀러 가치를 5단계 퍼널로 분석 — 각 단계에서 채널이 얼마나 효율적으로 기여하는가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57200" y="1325880"/>
            <a:ext cx="2103120" cy="4114800"/>
          </a:xfrm>
          <a:prstGeom prst="rect">
            <a:avLst/>
          </a:prstGeom>
          <a:solidFill>
            <a:srgbClr val="1A2456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57200" y="1325880"/>
            <a:ext cx="2103120" cy="5029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57200" y="134416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19202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행동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21488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채널을 통해 잠재 셀러 유입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26517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지표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28803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MQL 수, CVR, MQL당 매출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3474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핵심 질문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37033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어느 채널이 양질의 리드를 보내는가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2578608" y="3383280"/>
            <a:ext cx="192024" cy="0"/>
          </a:xfrm>
          <a:prstGeom prst="straightConnector1">
            <a:avLst/>
          </a:prstGeom>
          <a:noFill/>
          <a:ln cap="flat" cmpd="sng" w="19050">
            <a:solidFill>
              <a:srgbClr val="6B7E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5"/>
          <p:cNvSpPr/>
          <p:nvPr/>
        </p:nvSpPr>
        <p:spPr>
          <a:xfrm>
            <a:off x="2788920" y="1325880"/>
            <a:ext cx="2103120" cy="4114800"/>
          </a:xfrm>
          <a:prstGeom prst="rect">
            <a:avLst/>
          </a:prstGeom>
          <a:solidFill>
            <a:srgbClr val="1A2456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788920" y="1325880"/>
            <a:ext cx="2103120" cy="50292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2788920" y="134416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2880360" y="19202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행동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880360" y="21488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MQL → 입점 계약 체결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880360" y="26517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지표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880360" y="28803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Sales Cycle, 이탈률, 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880360" y="3474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핵심 질문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880360" y="37033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어느 채널의 리드가 빠르게 계약하는가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5"/>
          <p:cNvCxnSpPr/>
          <p:nvPr/>
        </p:nvCxnSpPr>
        <p:spPr>
          <a:xfrm>
            <a:off x="4910328" y="3383280"/>
            <a:ext cx="192024" cy="0"/>
          </a:xfrm>
          <a:prstGeom prst="straightConnector1">
            <a:avLst/>
          </a:prstGeom>
          <a:noFill/>
          <a:ln cap="flat" cmpd="sng" w="19050">
            <a:solidFill>
              <a:srgbClr val="6B7E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5"/>
          <p:cNvSpPr/>
          <p:nvPr/>
        </p:nvSpPr>
        <p:spPr>
          <a:xfrm>
            <a:off x="5120640" y="1325880"/>
            <a:ext cx="2103120" cy="4114800"/>
          </a:xfrm>
          <a:prstGeom prst="rect">
            <a:avLst/>
          </a:prstGeom>
          <a:solidFill>
            <a:srgbClr val="1A2456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5120640" y="1325880"/>
            <a:ext cx="2103120" cy="5029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120640" y="134416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212080" y="19202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행동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212080" y="21488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입점 후 첫 판매 발생 및 지속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212080" y="26517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지표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212080" y="28803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활성률, Time-to-First-Sale, avg LTV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212080" y="3474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핵심 질문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212080" y="37033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입점 후 살아남는 셀러의 조건은?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5"/>
          <p:cNvCxnSpPr/>
          <p:nvPr/>
        </p:nvCxnSpPr>
        <p:spPr>
          <a:xfrm>
            <a:off x="7242048" y="3383280"/>
            <a:ext cx="192024" cy="0"/>
          </a:xfrm>
          <a:prstGeom prst="straightConnector1">
            <a:avLst/>
          </a:prstGeom>
          <a:noFill/>
          <a:ln cap="flat" cmpd="sng" w="19050">
            <a:solidFill>
              <a:srgbClr val="6B7E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5"/>
          <p:cNvSpPr/>
          <p:nvPr/>
        </p:nvSpPr>
        <p:spPr>
          <a:xfrm>
            <a:off x="7452360" y="1325880"/>
            <a:ext cx="2103120" cy="4114800"/>
          </a:xfrm>
          <a:prstGeom prst="rect">
            <a:avLst/>
          </a:prstGeom>
          <a:solidFill>
            <a:srgbClr val="1A2456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452360" y="1325880"/>
            <a:ext cx="2103120" cy="5029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7452360" y="134416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543800" y="19202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행동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543800" y="21488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셀러 품질 → 구매자 평판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543800" y="26517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지표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543800" y="28803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리뷰 점수, 배송 준수율, NPS Proxy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543800" y="3474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핵심 질문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543800" y="37033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좋은 셀러가 플랫폼 신뢰를 높이는가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5"/>
          <p:cNvCxnSpPr/>
          <p:nvPr/>
        </p:nvCxnSpPr>
        <p:spPr>
          <a:xfrm>
            <a:off x="9573768" y="3383280"/>
            <a:ext cx="192024" cy="0"/>
          </a:xfrm>
          <a:prstGeom prst="straightConnector1">
            <a:avLst/>
          </a:prstGeom>
          <a:noFill/>
          <a:ln cap="flat" cmpd="sng" w="19050">
            <a:solidFill>
              <a:srgbClr val="6B7E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5"/>
          <p:cNvSpPr/>
          <p:nvPr/>
        </p:nvSpPr>
        <p:spPr>
          <a:xfrm>
            <a:off x="9784080" y="1325880"/>
            <a:ext cx="2103120" cy="4114800"/>
          </a:xfrm>
          <a:prstGeom prst="rect">
            <a:avLst/>
          </a:prstGeom>
          <a:solidFill>
            <a:srgbClr val="1A2456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9784080" y="1325880"/>
            <a:ext cx="2103120" cy="5029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9784080" y="134416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9875520" y="19202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행동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875520" y="21488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누적 GMV 발생 및 LTV 형성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875520" y="26517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지표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9875520" y="28803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총 GMV, avg LTV, GMV/MQL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9875520" y="3474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핵심 질문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875520" y="37033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어느 채널이 돈이 됐는가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131A45"/>
          </a:solidFill>
          <a:ln cap="flat" cmpd="sng" w="9525">
            <a:solidFill>
              <a:srgbClr val="2D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822960" y="568756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8,000명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22960" y="600760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B4E0"/>
                </a:solidFill>
                <a:latin typeface="Calibri"/>
                <a:ea typeface="Calibri"/>
                <a:cs typeface="Calibri"/>
                <a:sym typeface="Calibri"/>
              </a:rPr>
              <a:t>전체 MQL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090672" y="568756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842명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090672" y="600760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B4E0"/>
                </a:solidFill>
                <a:latin typeface="Calibri"/>
                <a:ea typeface="Calibri"/>
                <a:cs typeface="Calibri"/>
                <a:sym typeface="Calibri"/>
              </a:rPr>
              <a:t>입점 성사 (10.5%)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358384" y="568756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380명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358384" y="600760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B4E0"/>
                </a:solidFill>
                <a:latin typeface="Calibri"/>
                <a:ea typeface="Calibri"/>
                <a:cs typeface="Calibri"/>
                <a:sym typeface="Calibri"/>
              </a:rPr>
              <a:t>매출 발생 (4.75%)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626096" y="568756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676,851 BRL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626096" y="600760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B4E0"/>
                </a:solidFill>
                <a:latin typeface="Calibri"/>
                <a:ea typeface="Calibri"/>
                <a:cs typeface="Calibri"/>
                <a:sym typeface="Calibri"/>
              </a:rPr>
              <a:t>총 GMV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9893808" y="568756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상위 10%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9893808" y="600760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0B4E0"/>
                </a:solidFill>
                <a:latin typeface="Calibri"/>
                <a:ea typeface="Calibri"/>
                <a:cs typeface="Calibri"/>
                <a:sym typeface="Calibri"/>
              </a:rPr>
              <a:t>GMV의 64.7% 담당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— 유입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201168"/>
            <a:ext cx="1371600" cy="292608"/>
          </a:xfrm>
          <a:prstGeom prst="roundRect">
            <a:avLst>
              <a:gd fmla="val 15625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57200" y="20116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011680" y="18288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채널별 유입 성과 요약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어느 채널이 가장 효율적인 리드를 보냈는가 — MQL 수, CVR, MQL당 매출 종합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6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6"/>
          <p:cNvSpPr/>
          <p:nvPr/>
        </p:nvSpPr>
        <p:spPr>
          <a:xfrm>
            <a:off x="45720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9436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총 MQL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9436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8,000명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9436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전체 잠재 셀러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78892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292608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입점 CVR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92608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10.5%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92608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842명 계약 성사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12064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25780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최고 CVR 채널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25780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paid_search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25780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CVR 12.3%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45236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58952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최고 MQL당매출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58952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R$97.9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58952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paid_search (추적가능)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78408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992124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social MQL당매출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992124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R$32.2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92124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paid 대비 1/3 수준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57200" y="2560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채널별 종합 성과 지표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" name="Google Shape;147;p6"/>
          <p:cNvGraphicFramePr/>
          <p:nvPr/>
        </p:nvGraphicFramePr>
        <p:xfrm>
          <a:off x="457200" y="2852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{1916E347-049B-463B-9380-E32657B12A47}</a:tableStyleId>
              </a:tblPr>
              <a:tblGrid>
                <a:gridCol w="2011675"/>
                <a:gridCol w="914400"/>
                <a:gridCol w="731525"/>
                <a:gridCol w="822950"/>
                <a:gridCol w="1371600"/>
                <a:gridCol w="12801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채널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CVR%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활성률%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MQL당매출(R$)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Cycle중앙값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organic_search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2,296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14일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0A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40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paid_search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1,586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 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15일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social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30일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1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1,159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44.0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185 ※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11일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direct_traffic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10일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referral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37.5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18.5일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" name="Google Shape;148;p6"/>
          <p:cNvSpPr/>
          <p:nvPr/>
        </p:nvSpPr>
        <p:spPr>
          <a:xfrm>
            <a:off x="7772400" y="2560320"/>
            <a:ext cx="438912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7772400" y="2560320"/>
            <a:ext cx="54864" cy="35661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7909560" y="265176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핵심 판단 기준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909560" y="2944368"/>
            <a:ext cx="4160520" cy="3090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MQL 수 아닌 MQL당 매출로 채널 평가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paid_search: CVR·활성률·MQL당매출 균형 최우수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social: MQL 3위지만 효율 최하위 (paid의 1/3)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unknown: 효율 1위이나 추적 불가 → 정비 선행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referral: 볼륨 적지만 avg LTV 추적가능 채널 1위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— 유입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채널별 유입 규모 vs 수익 기여도 / 월별 MQL 추이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7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7"/>
          <p:cNvSpPr/>
          <p:nvPr/>
        </p:nvSpPr>
        <p:spPr>
          <a:xfrm>
            <a:off x="457200" y="1234440"/>
            <a:ext cx="557784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57200" y="3447288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channel_volume_vs_roi.png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채널별 유입 규모 vs 수익 기여도(ROI) 비교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217920" y="1234440"/>
            <a:ext cx="548640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217920" y="344728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monthly_performance_trend.png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월별 잠재 리드(MQL) 유입 및 성과 추이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① social MQL 1,350건(3위)이지만 MQL당 매출 R$32로 최하위 — paid(R$98)의 1/3 수준. 볼륨이 수익을 보장하지 않음을 명확히 보여주는 차트    ② 2017년 하반기 CVR 1~4%대에서 2018Q1 13~14%로 7배 급증 — 채널 믹스(paid↑ social↓) 변화와 시기가 겹쳐 구조적 원인으로 지목됨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— 유입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채널별 전환 효율 — 로지스틱 회귀 Odds Ratio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8"/>
          <p:cNvSpPr/>
          <p:nvPr/>
        </p:nvSpPr>
        <p:spPr>
          <a:xfrm>
            <a:off x="457200" y="1234440"/>
            <a:ext cx="6858000" cy="457200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57200" y="3355848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channel_conversion_efficiency.png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채널별 전환 효율 (OR &amp; 95% CI)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498080" y="1234440"/>
            <a:ext cx="438912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498080" y="1234440"/>
            <a:ext cx="54864" cy="32004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635240" y="13258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OR 분석 핵심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635240" y="1618488"/>
            <a:ext cx="4160520" cy="2724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paid_search OR=2.76, organic OR=2.69 — 모두 유의미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social OR=1.08 (p=0.67) — 통계적으로 유의미하지 않음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unknown 제외해도 다른 채널 순위 동일 → 결론 견고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시기 변수 OR=4.0으로 채널보다 더 강한 영향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8"/>
          <p:cNvGraphicFramePr/>
          <p:nvPr/>
        </p:nvGraphicFramePr>
        <p:xfrm>
          <a:off x="7498080" y="45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{1916E347-049B-463B-9380-E32657B12A47}</a:tableStyleId>
              </a:tblPr>
              <a:tblGrid>
                <a:gridCol w="1371600"/>
                <a:gridCol w="822950"/>
                <a:gridCol w="914400"/>
                <a:gridCol w="12801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채널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p-value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판정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paid_search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2.759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★ 유의미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organic_search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2.689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★ 유의미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direct_traffic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2.519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★ 유의미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social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1.082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 비유의미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— 유입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전환 속도에 따른 셀러 활성화율 비교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9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9"/>
          <p:cNvSpPr/>
          <p:nvPr/>
        </p:nvSpPr>
        <p:spPr>
          <a:xfrm>
            <a:off x="457200" y="1234440"/>
            <a:ext cx="6858000" cy="457200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57200" y="3355848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conversion_speed_impact.png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전환 속도에 따른 셀러 활성화율(Activation) 비교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7498080" y="1234440"/>
            <a:ext cx="4389120" cy="365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7498080" y="1234440"/>
            <a:ext cx="54864" cy="3657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7635240" y="13258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전환 속도 → 미래 성과의 선행 지표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635240" y="1618488"/>
            <a:ext cx="4160520" cy="3182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14일 이내 전환: 활성화율 54.7%, avg 매출 R$908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60일 초과 전환: 활성화율 23.6%, avg 매출 R$280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Mann-Whitney p&lt;0.001 — 통계적으로 유의미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direct(10일)·unknown(11일) 빠른 채널이 이후 성과도 우수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social(30일) 느린 전환 = 낮은 활성화율과 연결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— 유입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채널별 예산 배분 전략 제언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10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10" name="Google Shape;210;p10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{1916E347-049B-463B-9380-E32657B12A47}</a:tableStyleId>
              </a:tblPr>
              <a:tblGrid>
                <a:gridCol w="1828800"/>
                <a:gridCol w="2926075"/>
                <a:gridCol w="64922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채널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전략 방향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근거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0A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40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paid_search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예산 증액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CVR 12.3%, OR 2.76, MQL당 R$98 — 추적가능 채널 효율 1위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organic_search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 강화 (비용 효율)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CVR 11.8%, OR 2.69 — 광고비 없이 MQL당 R$90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social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예산 50% 감축 또는 타겟 재설계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CVR 5.6%, OR 1.08(ns) — paid 대비 1/3 효율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direct_traffic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브랜드 인지도 확대로 볼륨 확장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활성화율 55.4% 최고, 단 볼륨(499명) 작음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referral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파트너 인센티브 프로그램 도입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LTV 1,988 BRL — 추적가능 채널 중 최고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UTM 추적 체계 정비 선행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효율 1위이나 정체 불명 — 추적 후 예산 판단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10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457200" y="5029200"/>
            <a:ext cx="54864" cy="11887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594360" y="51206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즉시 실행 액션 3가지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94360" y="5413248"/>
            <a:ext cx="11018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① unknown 채널 UTM 파라미터 정비 — 추적 불가 리드 실체 규명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② social 예산 50% 감축 → paid_search·referral로 재배분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③ 15일 골든타임 알림 시스템 도입 — 계약 전환 속도 관리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— 유입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FF4FF"/>
          </a:solidFill>
          <a:ln cap="flat" cmpd="sng" w="12700">
            <a:solidFill>
              <a:srgbClr val="EF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54864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Acquisition 시사점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11"/>
          <p:cNvCxnSpPr/>
          <p:nvPr/>
        </p:nvCxnSpPr>
        <p:spPr>
          <a:xfrm>
            <a:off x="457200" y="8686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1"/>
          <p:cNvSpPr/>
          <p:nvPr/>
        </p:nvSpPr>
        <p:spPr>
          <a:xfrm>
            <a:off x="548640" y="10058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685800" y="1097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1325880" y="11155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채널 평가 기준을 MQL 수에서 MQL당 매출로 전환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325880" y="14630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social은 MQL 1,350건으로 3위지만 MQL당 매출 R$32로 최하위. paid_search는 R$98로 3배 효율적. 볼륨이 아닌 질로 채널을 평가해야 예산이 올바른 방향으로 흐른다.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48640" y="28346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685800" y="2926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1325880" y="29443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'빠른 계약'은 단순 영업 성과가 아니라 미래 활성 가능성의 선행 지표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1325880" y="32918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Sales Cycle이 짧은 채널(direct 10일, paid 15일)의 활성화율이 높고, 긴 채널(social 30일)은 낮다. 계약 속도를 리드 스코어링 지표로 활용해야 한다.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685800" y="4754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325880" y="47731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unknown 채널 정체 규명이 예산 결정보다 선행되어야 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325880" y="51206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unknown이 CVR 16.7%로 효율 1위지만 UTM 추적 부재로 정체 불명. LP 분석 결과 paid/organic과 유사한 검색 기반 유입으로 추론되나 확정 결론은 아님. UTM 정비가 가장 시급한 액션이다.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다음: Activation — MQL이 계약 체결까지 89.5% 이탈하는 구조적 원인 분석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 — 전환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57200" y="201168"/>
            <a:ext cx="1371600" cy="292608"/>
          </a:xfrm>
          <a:prstGeom prst="roundRect">
            <a:avLst>
              <a:gd fmla="val 15625" name="adj"/>
            </a:avLst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457200" y="20116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2011680" y="18288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리드 전환 예측 및 이탈 분석 요약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8,000 MQL 중 89.5%가 계약 전 이탈 — 5가지 핵심 발견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12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2"/>
          <p:cNvSpPr/>
          <p:nvPr/>
        </p:nvSpPr>
        <p:spPr>
          <a:xfrm>
            <a:off x="45720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59436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총 MQL 이탈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9436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89.5%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59436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7,158명 계약 전 이탈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278892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292608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계약 성사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292608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842명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292608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CVR 10.5%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512064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525780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모델 AUC (v2)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25780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0.713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525780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24개 피처 향상 모델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745236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758952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골든타임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758952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15일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758952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계약자 52%가 15일 이내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978408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992124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시기 변수 중요도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992124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67.4%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992124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채널 전체보다 2배 중요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457200" y="2560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5가지 핵심 발견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457200" y="2926080"/>
            <a:ext cx="112471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① 89.5% 이탈은 '시기 의존적' 현상 — 2017Q3 CVR 1.9% → 2018Q1 14.0%로 7배 증가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② 채널은 약한 보조 변수 — 시기 변수 1개가 채널 전체보다 2배 더 중요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③ Unknown 효율 1위(16.7%)지만 정체 불명 — UTM 정비가 가장 시급한 액션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④ Social 볼륨 3위인데 CVR 5.6% 최저 — 이탈자 중 social 비중이 계약자의 2배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⑤ 15일 골든타임 — 계약자의 52%가 15일 이내 완료, 이후 전환 확률 급락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 — 전환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관심 표명→계약 깔때기 / 채널별 볼륨 vs 전환율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13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3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01_funnel.png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관심 표명 → 계약 체결 깔때기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02_origin_cvr.png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채널별 볼륨 vs 전환율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8,000명 중 842명만 계약 — 89.5%가 계약 전 이탈하는 구조적 병목 확인. Unknown CVR 16.7%(1위)이나 추적 불가이며, Social CVR 5.6%로 최하위 — MQL 유입량과 전환율이 반드시 비례하지 않음을 보여줌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 — 전환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시기별 마케팅 피로도 검증 / 영업 주기 분포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14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4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03_time_fatigue.png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시기별 마케팅 피로도 검증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04_sales_cycle.png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영업 주기 분포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피로도 가설 기각 — 시간이 지날수록 전환율이 월 +1.44%씩 상승하며 이는 영업 프로세스의 학습 곡선 효과로 해석됨. 영업 주기 분포에서 direct_traffic은 계약자 중앙값 10일로 가장 짧고, social은 30일로 전 채널 중 가장 길며 분산도 매우 커 리드 품질이 고르지 않음을 나타냄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 — 전환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랜딩페이지 전환율 / 계약 셀러 업종 분포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5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5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05_landing_page.png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랜딩페이지 상위 15개 전환율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06_segment.png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계약 셀러 업종 상위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LP 간 전환율이 최대 6배(3.4%~20.3%) 차이 — 채널 예산만큼이나 LP 선정이 전환율 핵심 변수임. 업종별로는 home_decor(105명)·health_beauty(93명)·car_accessories(77명) 순서로 계약이 많으며, 이 업종이 영업 타겟 우선순위 기준으로 활용 가능함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 — 전환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리드 타입 분포 / 로지스틱 회귀 Odds Ratio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6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6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07_lead_type.png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계약 셀러 리드 타입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08_logistic_or.png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로지스틱 회귀 오즈비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계약 셀러의 절대 다수가 online_medium — 플랫폼의 핵심 타겟 리드이며 영업 자원 배분의 기준이 되어야 함. OR 분석에서 채널 변수보다 시기(contact_month) OR=4.0이 압도적으로 강한 예측 변수로 나타나, 채널 변경보다 '언제 유입됐는가'가 계약 여부를 더 크게 결정함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 — 전환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랜덤 포레스트 변수 중요도 / 머신러닝 모델 성능 v1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17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7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09_rf_importance.png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랜덤 포레스트 변수 중요도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10_roc_curve.png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머신러닝 모델 성능 v1 (ROC)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랜덤 포레스트에서 시기 변수 중요도 67.4% — 채널 7개 합계(32%)의 2배로 압도. '언제 유입됐는가'가 '어떤 채널로 유입됐는가'보다 훨씬 강한 전환 예측 변수임. v1 AUC는 로지스틱 0.643, RF 0.663으로 피처 8개 한계를 보이며, LP 변수 추가한 v2에서 0.713으로 개선됨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 — 전환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이탈자 vs 계약자 페르소나 / 분기별 전환율 추이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18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18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8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11_persona.png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이탈자 vs 계약자 페르소나 비교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12_quarter.png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분기별 전환율 추이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페르소나 분석: social 채널 비중이 이탈자(18.9%)에서 계약자(8.9%)보다 2배 높음 — social이 전환 안 되는 리드를 더 많이 보냄을 확인. 분기별 전환율은 2017Q3 1.9%에서 2018Q1 14.0%로 7배 급증하며 2018년부터 영업 프로세스가 본격 안정화됨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9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 — 전환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영업 단계별 병목 / 이탈자 3-세그먼트 분석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19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19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13_conversion_speed.png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영업 단계별 병목 (계약 속도)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14_lost_segments.png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이탈자 3-세그먼트 분석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계약자의 52%가 15일 이내 계약 완료 — 이 구간을 넘기면 전환 확률이 급락하므로 15일이 영업 골든타임. 이탈자 분석에서 2018Q1 피크기에 전체 이탈의 47%가 집중되어, 피크 시기 대량 유입 리드의 빠른 후속 관리가 이탈 방어의 핵심임을 시사함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0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 — 전환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2018Q1 채널 변화 분석 / 향상된 머신러닝 모델 v2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20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20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0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15_channel_evolution.png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무엇이 2018Q1에 바뀌었나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0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16_ml_enhanced.png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향상된 머신러닝 모델 (v2)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2018Q1부터 paid_search·unknown 비중 증가, social 비중 감소 — 이 채널 재배분이 전환율 급증의 구조적 원인으로 분석됨. v2 모델은 LP 변수 추가로 피처를 24개로 확장하여 AUC 0.663→0.713으로 개선, LP 선정이 채널 선택만큼 중요한 전환 변수임을 머신러닝이 재확인함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 — 전환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F5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1"/>
          <p:cNvSpPr/>
          <p:nvPr/>
        </p:nvSpPr>
        <p:spPr>
          <a:xfrm>
            <a:off x="54864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Activation 시사점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21"/>
          <p:cNvCxnSpPr/>
          <p:nvPr/>
        </p:nvCxnSpPr>
        <p:spPr>
          <a:xfrm>
            <a:off x="457200" y="8686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21"/>
          <p:cNvSpPr/>
          <p:nvPr/>
        </p:nvSpPr>
        <p:spPr>
          <a:xfrm>
            <a:off x="548640" y="10058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685800" y="1097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1325880" y="11155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시기가 채널보다 강하다 — 채널 최적화보다 타이밍 관리가 우선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1325880" y="14630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시기 변수 중요도 67.4%로 채널 전체(32%)의 2배. 2018Q1 전환율 급증의 원인은 채널 변화(paid↑, social↓)였다. 좋은 시기에 좋은 채널을 집중하는 '타이밍+채널' 전략이 필요하다.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548640" y="28346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1"/>
          <p:cNvSpPr/>
          <p:nvPr/>
        </p:nvSpPr>
        <p:spPr>
          <a:xfrm>
            <a:off x="685800" y="2926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1325880" y="29443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15일 골든타임 내 Fast-track 영업 체계 구축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1325880" y="32918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계약자의 52%가 15일 이내 완료. 15일을 넘기면 전환 확률이 급락한다. 리드 유입 후 72시간 이내 첫 연락, 15일 이내 계약 체결을 목표로 하는 Fast-track 프로세스가 필요하다.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"/>
          <p:cNvSpPr/>
          <p:nvPr/>
        </p:nvSpPr>
        <p:spPr>
          <a:xfrm>
            <a:off x="685800" y="4754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1325880" y="47731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랜딩페이지 최적화가 채널 예산만큼 중요하다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1325880" y="51206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LP 간 전환율이 최대 6배 차이(3.4%~20.3%). 머신러닝 v2에서 LP 변수 추가 시 AUC 0.663→0.713으로 개선. LP A/B 테스트가 채널 예산 증액만큼의 전환율 개선 효과를 낼 수 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다음: Retention — 계약 후 55%가 휴면 상태, 살아남는 셀러의 조건은?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 — 안착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457200" y="201168"/>
            <a:ext cx="1371600" cy="292608"/>
          </a:xfrm>
          <a:prstGeom prst="roundRect">
            <a:avLst>
              <a:gd fmla="val 15625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457200" y="20116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2011680" y="18288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전환 후 살아남는 셀러의 조건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입점 842명 중 462명(54.9%)이 휴면 — 어떤 셀러가 살아남았는가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22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" name="Google Shape;435;p22"/>
          <p:cNvSpPr/>
          <p:nvPr/>
        </p:nvSpPr>
        <p:spPr>
          <a:xfrm>
            <a:off x="45720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2"/>
          <p:cNvSpPr/>
          <p:nvPr/>
        </p:nvSpPr>
        <p:spPr>
          <a:xfrm>
            <a:off x="59436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활성 셀러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59436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380명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59436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45.1% (has_revenue=1)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278892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92608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휴면 셀러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292608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462명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292608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54.9% (0건 판매)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512064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525780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28일 이내 첫판매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2"/>
          <p:cNvSpPr/>
          <p:nvPr/>
        </p:nvSpPr>
        <p:spPr>
          <a:xfrm>
            <a:off x="525780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3,787 BRL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525780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 79일+ 630 BRL (6배)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745236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2"/>
          <p:cNvSpPr/>
          <p:nvPr/>
        </p:nvSpPr>
        <p:spPr>
          <a:xfrm>
            <a:off x="758952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Sales Cycle 차이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758952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10 vs 21일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758952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활성 vs 휴면 (p&lt;0.0001)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978408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2"/>
          <p:cNvSpPr/>
          <p:nvPr/>
        </p:nvSpPr>
        <p:spPr>
          <a:xfrm>
            <a:off x="992124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최고 활성률 채널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992124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992124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55.4% | paid 51.8%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457200" y="2560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살아남는 셀러의 4가지 조건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457200" y="2926080"/>
            <a:ext cx="539496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2"/>
          <p:cNvSpPr/>
          <p:nvPr/>
        </p:nvSpPr>
        <p:spPr>
          <a:xfrm>
            <a:off x="457200" y="2926080"/>
            <a:ext cx="5394960" cy="3200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2"/>
          <p:cNvSpPr/>
          <p:nvPr/>
        </p:nvSpPr>
        <p:spPr>
          <a:xfrm>
            <a:off x="548640" y="29260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빠른 실행력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548640" y="333756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Sales Cycle이 짧고 (중앙값 10일) 입점 결정이 빠른 셀러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6126480" y="2926080"/>
            <a:ext cx="539496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2"/>
          <p:cNvSpPr/>
          <p:nvPr/>
        </p:nvSpPr>
        <p:spPr>
          <a:xfrm>
            <a:off x="6126480" y="2926080"/>
            <a:ext cx="5394960" cy="3200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2"/>
          <p:cNvSpPr/>
          <p:nvPr/>
        </p:nvSpPr>
        <p:spPr>
          <a:xfrm>
            <a:off x="6217920" y="29260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유연한 사업 모델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2"/>
          <p:cNvSpPr/>
          <p:nvPr/>
        </p:nvSpPr>
        <p:spPr>
          <a:xfrm>
            <a:off x="6217920" y="333756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reseller 활성률(48.9%) &gt; manufacturer(37.2%) — 재고 즉시 판매 가능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2"/>
          <p:cNvSpPr/>
          <p:nvPr/>
        </p:nvSpPr>
        <p:spPr>
          <a:xfrm>
            <a:off x="457200" y="4572000"/>
            <a:ext cx="539496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2"/>
          <p:cNvSpPr/>
          <p:nvPr/>
        </p:nvSpPr>
        <p:spPr>
          <a:xfrm>
            <a:off x="457200" y="4572000"/>
            <a:ext cx="5394960" cy="3200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2"/>
          <p:cNvSpPr/>
          <p:nvPr/>
        </p:nvSpPr>
        <p:spPr>
          <a:xfrm>
            <a:off x="548640" y="45720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조기 성과 달성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2"/>
          <p:cNvSpPr/>
          <p:nvPr/>
        </p:nvSpPr>
        <p:spPr>
          <a:xfrm>
            <a:off x="548640" y="498348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28일 이내 첫 판매 셀러 avg 매출 3,787 BRL — 79일+ 대비 6배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2"/>
          <p:cNvSpPr/>
          <p:nvPr/>
        </p:nvSpPr>
        <p:spPr>
          <a:xfrm>
            <a:off x="6126480" y="4572000"/>
            <a:ext cx="539496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2"/>
          <p:cNvSpPr/>
          <p:nvPr/>
        </p:nvSpPr>
        <p:spPr>
          <a:xfrm>
            <a:off x="6126480" y="4572000"/>
            <a:ext cx="5394960" cy="3200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2"/>
          <p:cNvSpPr/>
          <p:nvPr/>
        </p:nvSpPr>
        <p:spPr>
          <a:xfrm>
            <a:off x="6217920" y="45720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목적형 유입 경로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6217920" y="498348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direct(55.4%)·paid_search(51.8%) — 높은 입점 의지로 유입된 채널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3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 — 안착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활성 vs 휴면 셀러 프로파일 비교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3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동기(Motivation)가 강한 셀러가 행동도 빠르다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2" name="Google Shape;482;p23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3" name="Google Shape;483;p23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3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analysis1_continuous.png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프로파일 비교 — 연속형 (Sales Cycle, declared revenue)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3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analysis1_categorical.png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프로파일 비교 — 범주형 (채널·업종·프로파일별)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Sales Cycle 중앙값: 활성 10일 vs 휴면 21일 (Mann-Whitney p&lt;0.0001) — 입점 결정이 빠른 셀러가 나중에도 빠르게 행동함. declared_monthly_revenue는 활성 셀러 전원이 0으로 기록되어 생존 예측 변수로 사용 불가 — 범주형 차트에서는 online_big·direct·paid_search 유입 셀러의 활성 비중이 높게 나타남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4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 — 안착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4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4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채널별 활성률 및 성과 매트릭스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4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양(Quantity)보다 질(Quality)에 집중해야 할 채널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24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24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4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analysis2_active_rate.png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채널별 활성률 (전체 평균 45.1% 기준선)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4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4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analysis2_scatter.png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채널별 활성률 vs avg LTV 산점도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direct_traffic 55.4%, paid_search 51.8%로 전체 평균(45.1%)을 상회. 산점도에서 referral은 활성률 37.5% 최하위임에도 avg LTV 1,988 BRL로 추적가능 채널 중 1위 — 살아남으면 가장 많이 파는 채널. 반대로 direct는 활성률 최고지만 avg LTV 707 BRL로 낮아, 활성률과 LTV가 반드시 비례하지 않음을 보여줌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 — 안착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채널별 레이더 차트 / 사업 형태별 생존 비교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p25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4" name="Google Shape;514;p25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analysis2_radar.png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채널별 F·M·생존율 레이더 차트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5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analysis3_business_type.png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사업 형태별 분석 (reseller vs manufacturer)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레이더 차트: paid_search가 Frequency·Monetary·생존율 3개 축에서 가장 균형 잡힌 채널. reseller 활성률 48.9% vs manufacturer 37.2%로 11.7%p 차이 — manufacturer는 제조·인증·물류 준비에 시간이 더 걸려 동일 온보딩 기간 적용 시 불리함. 별도 45일 이상 확장 온보딩 트랙이 필요한 근거임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 — 안착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6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6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업종별 활성률 / 입점 후 미전환율 곡선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p26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9" name="Google Shape;529;p26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6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analysis3_segments.png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업종별 활성률 분포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6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6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analysis4_churn_curve.png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입점 후 경과일에 따른 미전환율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6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home_decor·health_beauty 등 소비재 업종이 활성률 상위권 — 재고 회전이 빠른 업종일수록 첫 판매 허들이 낮음. Churn 곡선에서 28일 시점 여전히 88.4%가 미판매 상태이고, 90일 경과 시 62.9%가 미전환 고착 — 90일을 넘기면 회복 가능성이 급격히 낮아지므로 초기 집중 개입이 결정적임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7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 — 안착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7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첫 판매 소요 시간 vs 매출 / 구간별 매출 비교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첫 4주(28일)가 셀러의 운명을 결정한다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4" name="Google Shape;544;p27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5" name="Google Shape;545;p27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7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analysis4_scatter_reg.png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첫 판매 소요 시간 vs 누적 매출 산점도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7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analysis4_tiers.png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구간별 평균 매출 비교 (0-28일 / 29-50일 / 51-78일 / 79일+)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7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r=-0.158로 약한 음의 상관이지만 구간별 격차는 뚜렷함. 0~28일 첫 판매 셀러의 avg 매출 R$3,787은 79일+ 셀러(R$630)의 6배 — 같은 입점 셀러라도 첫 판매 타이밍이 장기 매출을 6배까지 벌려놓음. 또한 주문 건수와의 상관(r=-0.216)이 매출보다 더 강해, 빠른 첫 판매가 반복 거래 습관 형성으로 이어짐을 시사함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8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 — 안착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생존 예측 모델 — 변수 중요도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9" name="Google Shape;559;p28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p28"/>
          <p:cNvSpPr/>
          <p:nvPr/>
        </p:nvSpPr>
        <p:spPr>
          <a:xfrm>
            <a:off x="2011680" y="1234440"/>
            <a:ext cx="81381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8"/>
          <p:cNvSpPr/>
          <p:nvPr/>
        </p:nvSpPr>
        <p:spPr>
          <a:xfrm>
            <a:off x="2011680" y="344728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analysis5_importance.png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의사결정나무 변수 중요도 (활성/휴면 예측)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274320" y="1234440"/>
            <a:ext cx="1554480" cy="4754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8"/>
          <p:cNvSpPr/>
          <p:nvPr/>
        </p:nvSpPr>
        <p:spPr>
          <a:xfrm>
            <a:off x="274320" y="1234440"/>
            <a:ext cx="54864" cy="47548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8"/>
          <p:cNvSpPr/>
          <p:nvPr/>
        </p:nvSpPr>
        <p:spPr>
          <a:xfrm>
            <a:off x="411480" y="1325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변수 중요도 해석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411480" y="1618488"/>
            <a:ext cx="1325880" cy="4279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Sales Cycle Days: 생존 예측의 가장 강한 변수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origin(유입 채널): 보조 변수로 유의미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business_type: reseller vs manufacturer 분리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lead_behaviour_profile: 약한 기여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9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 — 안착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9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9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9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9"/>
          <p:cNvSpPr/>
          <p:nvPr/>
        </p:nvSpPr>
        <p:spPr>
          <a:xfrm>
            <a:off x="54864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Retention 시사점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" name="Google Shape;577;p29"/>
          <p:cNvCxnSpPr/>
          <p:nvPr/>
        </p:nvCxnSpPr>
        <p:spPr>
          <a:xfrm>
            <a:off x="457200" y="8686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8" name="Google Shape;578;p29"/>
          <p:cNvSpPr/>
          <p:nvPr/>
        </p:nvSpPr>
        <p:spPr>
          <a:xfrm>
            <a:off x="548640" y="10058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9"/>
          <p:cNvSpPr/>
          <p:nvPr/>
        </p:nvSpPr>
        <p:spPr>
          <a:xfrm>
            <a:off x="685800" y="1097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9"/>
          <p:cNvSpPr/>
          <p:nvPr/>
        </p:nvSpPr>
        <p:spPr>
          <a:xfrm>
            <a:off x="1325880" y="11155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28일 골든타임 집중 케어 프로그램 도입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9"/>
          <p:cNvSpPr/>
          <p:nvPr/>
        </p:nvSpPr>
        <p:spPr>
          <a:xfrm>
            <a:off x="1325880" y="14630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28일 이내 첫 판매 셀러의 avg 매출(R$3,787)이 79일 이후(R$630)의 6배. 이 4주에 웰컴 프로모션·상품 등록 지원·첫 판매 수수료 감면 등 자원을 집중해야 한다. 28일 미판매 셀러는 자동으로 위험군으로 분류하고 SR이 개입하는 트리거 시스템이 필요하다.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9"/>
          <p:cNvSpPr/>
          <p:nvPr/>
        </p:nvSpPr>
        <p:spPr>
          <a:xfrm>
            <a:off x="548640" y="28346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9"/>
          <p:cNvSpPr/>
          <p:nvPr/>
        </p:nvSpPr>
        <p:spPr>
          <a:xfrm>
            <a:off x="685800" y="2926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9"/>
          <p:cNvSpPr/>
          <p:nvPr/>
        </p:nvSpPr>
        <p:spPr>
          <a:xfrm>
            <a:off x="1325880" y="29443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manufacturer 전용 확장 온보딩 트랙 설계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9"/>
          <p:cNvSpPr/>
          <p:nvPr/>
        </p:nvSpPr>
        <p:spPr>
          <a:xfrm>
            <a:off x="1325880" y="32918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reseller 활성률(48.9%) vs manufacturer(37.2%) — 11.7%p 차이. manufacturer는 제조·인증·물류 셋업이 복잡해 28일 기준이 맞지 않는다. 45일 이상의 별도 온보딩 트랙과 전담 SR 배정이 현실적인 해결책이다.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9"/>
          <p:cNvSpPr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9"/>
          <p:cNvSpPr/>
          <p:nvPr/>
        </p:nvSpPr>
        <p:spPr>
          <a:xfrm>
            <a:off x="685800" y="4754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9"/>
          <p:cNvSpPr/>
          <p:nvPr/>
        </p:nvSpPr>
        <p:spPr>
          <a:xfrm>
            <a:off x="1325880" y="47731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referral을 고위험·고수익 채널로 재정의하고 전용 온보딩 투자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9"/>
          <p:cNvSpPr/>
          <p:nvPr/>
        </p:nvSpPr>
        <p:spPr>
          <a:xfrm>
            <a:off x="1325880" y="51206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referral 활성률 37.5%(최하위)지만 avg LTV 1,988 BRL(추적가능 채널 1위). 활성률만 45% 이상으로 끌어올리면 전체 채널 중 LTV 개선 효과가 가장 크다. 파트너 인센티브 + referral 전용 집중 온보딩이 답이다.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다음: Referral — 살아남은 셀러가 플랫폼 평판을 어떻게 만드는가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0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 — 품질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0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0"/>
          <p:cNvSpPr/>
          <p:nvPr/>
        </p:nvSpPr>
        <p:spPr>
          <a:xfrm>
            <a:off x="457200" y="201168"/>
            <a:ext cx="1371600" cy="292608"/>
          </a:xfrm>
          <a:prstGeom prst="roundRect">
            <a:avLst>
              <a:gd fmla="val 15625" name="adj"/>
            </a:avLst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0"/>
          <p:cNvSpPr/>
          <p:nvPr/>
        </p:nvSpPr>
        <p:spPr>
          <a:xfrm>
            <a:off x="457200" y="20116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2011680" y="18288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고가치 셀러 분석 — 매출과 평판의 교차점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0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좋은 셀러가 플랫폼 신뢰를 높이는가 — 리뷰·배송·LTV 종합 분석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4" name="Google Shape;604;p30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30"/>
          <p:cNvSpPr/>
          <p:nvPr/>
        </p:nvSpPr>
        <p:spPr>
          <a:xfrm>
            <a:off x="45720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0"/>
          <p:cNvSpPr/>
          <p:nvPr/>
        </p:nvSpPr>
        <p:spPr>
          <a:xfrm>
            <a:off x="59436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최고 avg LTV 채널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0"/>
          <p:cNvSpPr/>
          <p:nvPr/>
        </p:nvSpPr>
        <p:spPr>
          <a:xfrm>
            <a:off x="59436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0"/>
          <p:cNvSpPr/>
          <p:nvPr/>
        </p:nvSpPr>
        <p:spPr>
          <a:xfrm>
            <a:off x="59436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1,988 BRL (추적가능 1위)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0"/>
          <p:cNvSpPr/>
          <p:nvPr/>
        </p:nvSpPr>
        <p:spPr>
          <a:xfrm>
            <a:off x="278892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0"/>
          <p:cNvSpPr/>
          <p:nvPr/>
        </p:nvSpPr>
        <p:spPr>
          <a:xfrm>
            <a:off x="292608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파레토 — 상위 10%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0"/>
          <p:cNvSpPr/>
          <p:nvPr/>
        </p:nvSpPr>
        <p:spPr>
          <a:xfrm>
            <a:off x="292608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64.7%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0"/>
          <p:cNvSpPr/>
          <p:nvPr/>
        </p:nvSpPr>
        <p:spPr>
          <a:xfrm>
            <a:off x="292608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38명이 GMV의 64.7% 담당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0"/>
          <p:cNvSpPr/>
          <p:nvPr/>
        </p:nvSpPr>
        <p:spPr>
          <a:xfrm>
            <a:off x="512064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0"/>
          <p:cNvSpPr/>
          <p:nvPr/>
        </p:nvSpPr>
        <p:spPr>
          <a:xfrm>
            <a:off x="525780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파레토 — 상위 20%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0"/>
          <p:cNvSpPr/>
          <p:nvPr/>
        </p:nvSpPr>
        <p:spPr>
          <a:xfrm>
            <a:off x="525780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78.1%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0"/>
          <p:cNvSpPr/>
          <p:nvPr/>
        </p:nvSpPr>
        <p:spPr>
          <a:xfrm>
            <a:off x="525780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76명이 GMV의 78.1% 담당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0"/>
          <p:cNvSpPr/>
          <p:nvPr/>
        </p:nvSpPr>
        <p:spPr>
          <a:xfrm>
            <a:off x="745236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0"/>
          <p:cNvSpPr/>
          <p:nvPr/>
        </p:nvSpPr>
        <p:spPr>
          <a:xfrm>
            <a:off x="758952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organic 총 GMV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0"/>
          <p:cNvSpPr/>
          <p:nvPr/>
        </p:nvSpPr>
        <p:spPr>
          <a:xfrm>
            <a:off x="758952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R$207,023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0"/>
          <p:cNvSpPr/>
          <p:nvPr/>
        </p:nvSpPr>
        <p:spPr>
          <a:xfrm>
            <a:off x="758952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추적가능 채널 GMV 1위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0"/>
          <p:cNvSpPr/>
          <p:nvPr/>
        </p:nvSpPr>
        <p:spPr>
          <a:xfrm>
            <a:off x="978408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0"/>
          <p:cNvSpPr/>
          <p:nvPr/>
        </p:nvSpPr>
        <p:spPr>
          <a:xfrm>
            <a:off x="992124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social avg LTV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0"/>
          <p:cNvSpPr/>
          <p:nvPr/>
        </p:nvSpPr>
        <p:spPr>
          <a:xfrm>
            <a:off x="992124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R$1,403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0"/>
          <p:cNvSpPr/>
          <p:nvPr/>
        </p:nvSpPr>
        <p:spPr>
          <a:xfrm>
            <a:off x="992124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추적가능 채널 중 최하위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0"/>
          <p:cNvSpPr/>
          <p:nvPr/>
        </p:nvSpPr>
        <p:spPr>
          <a:xfrm>
            <a:off x="457200" y="2606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채널별 avg LTV 비교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6" name="Google Shape;626;p30"/>
          <p:cNvGraphicFramePr/>
          <p:nvPr/>
        </p:nvGraphicFramePr>
        <p:xfrm>
          <a:off x="457200" y="292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{1916E347-049B-463B-9380-E32657B12A47}</a:tableStyleId>
              </a:tblPr>
              <a:tblGrid>
                <a:gridCol w="2011675"/>
                <a:gridCol w="2011675"/>
                <a:gridCol w="1645925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채널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LTV (BRL)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평가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5966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referral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1,988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추적가능 1위 ★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organic_search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1,832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2위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paid_search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1,537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3위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social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1,403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4위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direct_traffic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최하위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7" name="Google Shape;627;p30"/>
          <p:cNvSpPr/>
          <p:nvPr/>
        </p:nvSpPr>
        <p:spPr>
          <a:xfrm>
            <a:off x="6400800" y="2606040"/>
            <a:ext cx="5486400" cy="3520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0"/>
          <p:cNvSpPr/>
          <p:nvPr/>
        </p:nvSpPr>
        <p:spPr>
          <a:xfrm>
            <a:off x="6400800" y="2606040"/>
            <a:ext cx="54864" cy="35204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0"/>
          <p:cNvSpPr/>
          <p:nvPr/>
        </p:nvSpPr>
        <p:spPr>
          <a:xfrm>
            <a:off x="6537960" y="26974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Referral 핵심 역설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0"/>
          <p:cNvSpPr/>
          <p:nvPr/>
        </p:nvSpPr>
        <p:spPr>
          <a:xfrm>
            <a:off x="6537960" y="2990088"/>
            <a:ext cx="5257800" cy="3044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referral은 활성률 최하위(37.5%)이지만 avg LTV 최고(1,988 BRL)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→ '고위험·고수익 채널'로 재정의 필요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활성률만 45%로 올리면 전체 채널 중 LTV 개선 최대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상위 20%(76명)가 GMV의 78.1% — 이 그룹 락인이 핵심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1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 — 품질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1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1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리뷰 평점 분포 / 긍정·부정 리뷰 워드클라우드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0" name="Google Shape;640;p31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1" name="Google Shape;641;p31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1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1_review_score_distribution.png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리뷰 평점 분포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1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1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2_review_wordcloud.png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긍정/부정 리뷰 텍스트 워드클라우드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리뷰 분포에서 5점이 압도적으로 많고 1점도 상당수 — 양극화 패턴으로 중간 품질 셀러 관리가 중요함. 워드클라우드에서 긍정 리뷰는 '빠른 배송·좋은 품질'이, 부정 리뷰는 '배송 지연·제품 불일치·환불 어려움'이 핵심 키워드로 — 셀러 온보딩 시 배송 품질 교육이 리뷰 점수를 직접 결정함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2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 — 품질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2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2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핵심 키워드 TF-IDF / 채널별 평균 리뷰 점수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5" name="Google Shape;655;p32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6" name="Google Shape;656;p32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2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3_tfidf_keywords.png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핵심 키워드 TF-IDF 분석 (긍정/부정)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2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2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4_origin_review_score.png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유입 채널별 평균 리뷰 점수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2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채널별 리뷰 점수 차이 존재 — 매출 높은 채널이 리뷰도 좋은 것은 아님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3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 — 품질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3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3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배송 소요일 vs 리뷰 / 업종별 만족도 / 스타셀러 비교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0" name="Google Shape;670;p33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1" name="Google Shape;671;p33"/>
          <p:cNvSpPr/>
          <p:nvPr/>
        </p:nvSpPr>
        <p:spPr>
          <a:xfrm>
            <a:off x="457200" y="1234440"/>
            <a:ext cx="347472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3"/>
          <p:cNvSpPr/>
          <p:nvPr/>
        </p:nvSpPr>
        <p:spPr>
          <a:xfrm>
            <a:off x="457200" y="344728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5_delivery_days_scatter.png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배송 소요일과 리뷰 점수 산점도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3"/>
          <p:cNvSpPr/>
          <p:nvPr/>
        </p:nvSpPr>
        <p:spPr>
          <a:xfrm>
            <a:off x="4114800" y="1234440"/>
            <a:ext cx="38404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3"/>
          <p:cNvSpPr/>
          <p:nvPr/>
        </p:nvSpPr>
        <p:spPr>
          <a:xfrm>
            <a:off x="4114800" y="344728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6_business_segment_heatmap.png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업종별 고객 만족도 Heatmap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3"/>
          <p:cNvSpPr/>
          <p:nvPr/>
        </p:nvSpPr>
        <p:spPr>
          <a:xfrm>
            <a:off x="8138160" y="1234440"/>
            <a:ext cx="35661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3"/>
          <p:cNvSpPr/>
          <p:nvPr/>
        </p:nvSpPr>
        <p:spPr>
          <a:xfrm>
            <a:off x="8138160" y="344728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7_star_vs_normal_boxplot.png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우량 셀러 vs 일반 셀러 리뷰 Box Plot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3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배송 지연 → 리뷰 하락 명확 | 스타 셀러가 리뷰 품질도 압도 — '잘 파는 셀러 = 좋은 평판 셀러'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4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 — 품질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4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4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4"/>
          <p:cNvSpPr/>
          <p:nvPr/>
        </p:nvSpPr>
        <p:spPr>
          <a:xfrm>
            <a:off x="54864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Referral 시사점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9" name="Google Shape;689;p34"/>
          <p:cNvCxnSpPr/>
          <p:nvPr/>
        </p:nvCxnSpPr>
        <p:spPr>
          <a:xfrm>
            <a:off x="457200" y="8686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0" name="Google Shape;690;p34"/>
          <p:cNvSpPr/>
          <p:nvPr/>
        </p:nvSpPr>
        <p:spPr>
          <a:xfrm>
            <a:off x="548640" y="10058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4"/>
          <p:cNvSpPr/>
          <p:nvPr/>
        </p:nvSpPr>
        <p:spPr>
          <a:xfrm>
            <a:off x="685800" y="1097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4"/>
          <p:cNvSpPr/>
          <p:nvPr/>
        </p:nvSpPr>
        <p:spPr>
          <a:xfrm>
            <a:off x="1325880" y="11155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상위 20% 셀러(76명) 락인이 Revenue 방어의 핵심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4"/>
          <p:cNvSpPr/>
          <p:nvPr/>
        </p:nvSpPr>
        <p:spPr>
          <a:xfrm>
            <a:off x="1325880" y="14630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상위 20%(76명)가 GMV의 78.1%를 담당. 이 그룹이 이탈하면 플랫폼 매출의 3/4이 사라진다. 전담 매니저 배정·수수료 우대·이탈 조기 감지 알림 체계가 필요하다.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4"/>
          <p:cNvSpPr/>
          <p:nvPr/>
        </p:nvSpPr>
        <p:spPr>
          <a:xfrm>
            <a:off x="548640" y="28346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4"/>
          <p:cNvSpPr/>
          <p:nvPr/>
        </p:nvSpPr>
        <p:spPr>
          <a:xfrm>
            <a:off x="685800" y="2926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4"/>
          <p:cNvSpPr/>
          <p:nvPr/>
        </p:nvSpPr>
        <p:spPr>
          <a:xfrm>
            <a:off x="1325880" y="29443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채널별 리뷰·배송 품질 기준선 설정 및 조기 개입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4"/>
          <p:cNvSpPr/>
          <p:nvPr/>
        </p:nvSpPr>
        <p:spPr>
          <a:xfrm>
            <a:off x="1325880" y="32918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배송 지연이 리뷰 점수 하락과 직결된다. 채널별 리뷰 4.0 이상, 배송 준수율 80% 이상을 기준선으로 설정하고 미달 셀러에게 자동 경고 → 개선 없으면 노출 제한하는 운영 정책이 필요하다.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4"/>
          <p:cNvSpPr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4"/>
          <p:cNvSpPr/>
          <p:nvPr/>
        </p:nvSpPr>
        <p:spPr>
          <a:xfrm>
            <a:off x="685800" y="4754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4"/>
          <p:cNvSpPr/>
          <p:nvPr/>
        </p:nvSpPr>
        <p:spPr>
          <a:xfrm>
            <a:off x="1325880" y="47731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referral 파트너 인센티브 프로그램 신설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4"/>
          <p:cNvSpPr/>
          <p:nvPr/>
        </p:nvSpPr>
        <p:spPr>
          <a:xfrm>
            <a:off x="1325880" y="51206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referral avg LTV 1,988 BRL로 추적가능 채널 최고. 활성률만 37.5%→45%로 개선해도 GMV 기여가 대폭 증가한다. 소개 셀러가 첫 판매를 내면 소개자에게 리워드를 주는 구조로 볼륨과 품질을 동시에 확대해야 한다.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4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다음: Revenue — 어느 채널이 실제로 돈이 됐는가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5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— 매출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457200" y="201168"/>
            <a:ext cx="1371600" cy="292608"/>
          </a:xfrm>
          <a:prstGeom prst="roundRect">
            <a:avLst>
              <a:gd fmla="val 15625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5"/>
          <p:cNvSpPr/>
          <p:nvPr/>
        </p:nvSpPr>
        <p:spPr>
          <a:xfrm>
            <a:off x="457200" y="20116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2011680" y="18288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채널별 LTV 및 GMV 기여도 분석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어느 채널 셀러가 가장 높은 장기 매출(LTV)을 만들었는가 — 마케팅 투자 우선순위 도출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" name="Google Shape;716;p35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7" name="Google Shape;717;p35"/>
          <p:cNvSpPr/>
          <p:nvPr/>
        </p:nvSpPr>
        <p:spPr>
          <a:xfrm>
            <a:off x="45720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5"/>
          <p:cNvSpPr/>
          <p:nvPr/>
        </p:nvSpPr>
        <p:spPr>
          <a:xfrm>
            <a:off x="59436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총 GMV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59436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R$676,851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59436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활성 셀러 380명 기준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278892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5"/>
          <p:cNvSpPr/>
          <p:nvPr/>
        </p:nvSpPr>
        <p:spPr>
          <a:xfrm>
            <a:off x="292608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organic GMV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292608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R$207,023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5"/>
          <p:cNvSpPr/>
          <p:nvPr/>
        </p:nvSpPr>
        <p:spPr>
          <a:xfrm>
            <a:off x="292608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추적가능 채널 GMV 1위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5"/>
          <p:cNvSpPr/>
          <p:nvPr/>
        </p:nvSpPr>
        <p:spPr>
          <a:xfrm>
            <a:off x="512064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5"/>
          <p:cNvSpPr/>
          <p:nvPr/>
        </p:nvSpPr>
        <p:spPr>
          <a:xfrm>
            <a:off x="525780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paid GMV/MQL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525780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R$97.9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525780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추적가능 채널 ROI 1위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5"/>
          <p:cNvSpPr/>
          <p:nvPr/>
        </p:nvSpPr>
        <p:spPr>
          <a:xfrm>
            <a:off x="745236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5"/>
          <p:cNvSpPr/>
          <p:nvPr/>
        </p:nvSpPr>
        <p:spPr>
          <a:xfrm>
            <a:off x="758952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social GMV/MQL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758952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R$32.2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758952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paid 대비 1/3 효율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5"/>
          <p:cNvSpPr/>
          <p:nvPr/>
        </p:nvSpPr>
        <p:spPr>
          <a:xfrm>
            <a:off x="9784080" y="1234440"/>
            <a:ext cx="21031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5"/>
          <p:cNvSpPr/>
          <p:nvPr/>
        </p:nvSpPr>
        <p:spPr>
          <a:xfrm>
            <a:off x="9921240" y="1344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상위 10% GMV점유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5"/>
          <p:cNvSpPr/>
          <p:nvPr/>
        </p:nvSpPr>
        <p:spPr>
          <a:xfrm>
            <a:off x="9921240" y="1581912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64.7%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5"/>
          <p:cNvSpPr/>
          <p:nvPr/>
        </p:nvSpPr>
        <p:spPr>
          <a:xfrm>
            <a:off x="9921240" y="20756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38명이 전체 GMV의 2/3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5"/>
          <p:cNvSpPr/>
          <p:nvPr/>
        </p:nvSpPr>
        <p:spPr>
          <a:xfrm>
            <a:off x="457200" y="2606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채널 포트폴리오 전략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8" name="Google Shape;738;p35"/>
          <p:cNvGraphicFramePr/>
          <p:nvPr/>
        </p:nvGraphicFramePr>
        <p:xfrm>
          <a:off x="457200" y="292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{1916E347-049B-463B-9380-E32657B12A47}</a:tableStyleId>
              </a:tblPr>
              <a:tblGrid>
                <a:gridCol w="1371600"/>
                <a:gridCol w="2286000"/>
                <a:gridCol w="2743200"/>
                <a:gridCol w="4846325"/>
              </a:tblGrid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그룹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채널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전략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근거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늘린다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paid_search + referral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예산 증액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ROI·LTV 모두 상위권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유지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organic_search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 강화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GMV 절대 규모 1위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줄인다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social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예산 30~40% 이동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GMV/MQL 최하위 R$32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해결한다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UTM 추적 정비 선행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출처 불명 — 추적 후 판단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6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— 매출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6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6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채널별 셀러 가치(LTV) 분석 / 리드 프로파일 기반 성과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8" name="Google Shape;748;p36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9" name="Google Shape;749;p36"/>
          <p:cNvSpPr/>
          <p:nvPr/>
        </p:nvSpPr>
        <p:spPr>
          <a:xfrm>
            <a:off x="457200" y="1234440"/>
            <a:ext cx="53949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6"/>
          <p:cNvSpPr/>
          <p:nvPr/>
        </p:nvSpPr>
        <p:spPr>
          <a:xfrm>
            <a:off x="457200" y="3447288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revenue_chart_1.png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채널별 LTV 분석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6"/>
          <p:cNvSpPr/>
          <p:nvPr/>
        </p:nvSpPr>
        <p:spPr>
          <a:xfrm>
            <a:off x="6035040" y="1234440"/>
            <a:ext cx="56692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6"/>
          <p:cNvSpPr/>
          <p:nvPr/>
        </p:nvSpPr>
        <p:spPr>
          <a:xfrm>
            <a:off x="6035040" y="344728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revenue_chart_2.png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프로파일별 LTV 분석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6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referral avg LTV 1,988 BRL 추적가능 1위 | shark avg LTV 4,951 BRL (표본 10명 주의)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7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— 매출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7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7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채널×프로파일 교차 / 투자 우선순위 매트릭스 / AARRR 퍼널 통과율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3" name="Google Shape;763;p37"/>
          <p:cNvCxnSpPr/>
          <p:nvPr/>
        </p:nvCxnSpPr>
        <p:spPr>
          <a:xfrm>
            <a:off x="457200" y="10972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4" name="Google Shape;764;p37"/>
          <p:cNvSpPr/>
          <p:nvPr/>
        </p:nvSpPr>
        <p:spPr>
          <a:xfrm>
            <a:off x="457200" y="1234440"/>
            <a:ext cx="347472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7"/>
          <p:cNvSpPr/>
          <p:nvPr/>
        </p:nvSpPr>
        <p:spPr>
          <a:xfrm>
            <a:off x="457200" y="3447288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revenue_chart_3.png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채널×프로파일 교차 분석 히트맵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7"/>
          <p:cNvSpPr/>
          <p:nvPr/>
        </p:nvSpPr>
        <p:spPr>
          <a:xfrm>
            <a:off x="4114800" y="1234440"/>
            <a:ext cx="384048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7"/>
          <p:cNvSpPr/>
          <p:nvPr/>
        </p:nvSpPr>
        <p:spPr>
          <a:xfrm>
            <a:off x="4114800" y="344728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revenue_chart_4.png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마케팅 투자 우선순위 매트릭스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7"/>
          <p:cNvSpPr/>
          <p:nvPr/>
        </p:nvSpPr>
        <p:spPr>
          <a:xfrm>
            <a:off x="8138160" y="1234440"/>
            <a:ext cx="3566160" cy="4754880"/>
          </a:xfrm>
          <a:prstGeom prst="rect">
            <a:avLst/>
          </a:prstGeom>
          <a:solidFill>
            <a:srgbClr val="D1D9F0"/>
          </a:solidFill>
          <a:ln cap="flat" cmpd="sng" w="12700">
            <a:solidFill>
              <a:srgbClr val="9BAE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7"/>
          <p:cNvSpPr/>
          <p:nvPr/>
        </p:nvSpPr>
        <p:spPr>
          <a:xfrm>
            <a:off x="8138160" y="344728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revenue_chart_5.png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4A8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B4A8C"/>
                </a:solidFill>
                <a:latin typeface="Calibri"/>
                <a:ea typeface="Calibri"/>
                <a:cs typeface="Calibri"/>
                <a:sym typeface="Calibri"/>
              </a:rPr>
              <a:t>AARRR 전체 퍼널 통과율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7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organic+reseller 조합 = 현실적 Golden Path | 상위 10%(38명)가 GMV 64.7% 담당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8"/>
          <p:cNvSpPr/>
          <p:nvPr/>
        </p:nvSpPr>
        <p:spPr>
          <a:xfrm>
            <a:off x="27432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— 매출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8"/>
          <p:cNvSpPr/>
          <p:nvPr/>
        </p:nvSpPr>
        <p:spPr>
          <a:xfrm>
            <a:off x="8229600" y="65105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AARRR 채널 분석 |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8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FF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8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8"/>
          <p:cNvSpPr/>
          <p:nvPr/>
        </p:nvSpPr>
        <p:spPr>
          <a:xfrm>
            <a:off x="548640" y="22860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Revenue 시사점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2" name="Google Shape;782;p38"/>
          <p:cNvCxnSpPr/>
          <p:nvPr/>
        </p:nvCxnSpPr>
        <p:spPr>
          <a:xfrm>
            <a:off x="457200" y="86868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3" name="Google Shape;783;p38"/>
          <p:cNvSpPr/>
          <p:nvPr/>
        </p:nvSpPr>
        <p:spPr>
          <a:xfrm>
            <a:off x="548640" y="10058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8"/>
          <p:cNvSpPr/>
          <p:nvPr/>
        </p:nvSpPr>
        <p:spPr>
          <a:xfrm>
            <a:off x="685800" y="1097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8"/>
          <p:cNvSpPr/>
          <p:nvPr/>
        </p:nvSpPr>
        <p:spPr>
          <a:xfrm>
            <a:off x="1325880" y="11155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채널 평가 지표를 MQL당 매출(GMV/MQL)로 통일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8"/>
          <p:cNvSpPr/>
          <p:nvPr/>
        </p:nvSpPr>
        <p:spPr>
          <a:xfrm>
            <a:off x="1325880" y="14630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social GMV/MQL R$32 vs paid GMV/MQL R$97.9 — 3배 차이. 볼륨(MQL 수)이 아닌 효율(GMV/MQL)로 채널 성과를 측정하면 예산 재배분 방향이 명확해진다. paid_search 증액, social 감축이 수치 기반 결론이다.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8"/>
          <p:cNvSpPr/>
          <p:nvPr/>
        </p:nvSpPr>
        <p:spPr>
          <a:xfrm>
            <a:off x="548640" y="28346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8"/>
          <p:cNvSpPr/>
          <p:nvPr/>
        </p:nvSpPr>
        <p:spPr>
          <a:xfrm>
            <a:off x="685800" y="2926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8"/>
          <p:cNvSpPr/>
          <p:nvPr/>
        </p:nvSpPr>
        <p:spPr>
          <a:xfrm>
            <a:off x="1325880" y="29443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신규 셀러 확대보다 상위 20% 락인이 더 효율적인 Revenue 전략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8"/>
          <p:cNvSpPr/>
          <p:nvPr/>
        </p:nvSpPr>
        <p:spPr>
          <a:xfrm>
            <a:off x="1325880" y="32918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상위 20%(76명)이 GMV의 78.1% 담당. 신규 MQL 확대에 드는 비용의 일부를 이 76명의 락인 프로그램(전담 매니저·수수료 우대·이탈 알림)으로 전환하면 같은 비용으로 더 큰 GMV 방어 효과를 낸다.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8"/>
          <p:cNvSpPr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8"/>
          <p:cNvSpPr/>
          <p:nvPr/>
        </p:nvSpPr>
        <p:spPr>
          <a:xfrm>
            <a:off x="685800" y="4754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8"/>
          <p:cNvSpPr/>
          <p:nvPr/>
        </p:nvSpPr>
        <p:spPr>
          <a:xfrm>
            <a:off x="1325880" y="4773168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예산 투자 의사결정을 수치 시나리오로 구체화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8"/>
          <p:cNvSpPr/>
          <p:nvPr/>
        </p:nvSpPr>
        <p:spPr>
          <a:xfrm>
            <a:off x="1325880" y="5120640"/>
            <a:ext cx="9966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paid_search에 MQL 100건 추가 시 예상 GMV 증분 = 100 × Real CVR(6.4%) × avg LTV(1,537) ≈ R$9,837. 이 방식으로 채널별 추가 투자 시나리오 테이블을 만들면 예산 회의에서 데이터 기반 의사결정이 가능하다.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8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다음: 최종 인사이트 — AARRR 5단계를 관통하는 핵심 전략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9"/>
          <p:cNvSpPr/>
          <p:nvPr/>
        </p:nvSpPr>
        <p:spPr>
          <a:xfrm>
            <a:off x="457200" y="137160"/>
            <a:ext cx="112471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최종 인사이트 &amp; 액션 플랜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9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E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9"/>
          <p:cNvSpPr/>
          <p:nvPr/>
        </p:nvSpPr>
        <p:spPr>
          <a:xfrm>
            <a:off x="457200" y="960120"/>
            <a:ext cx="1417320" cy="256032"/>
          </a:xfrm>
          <a:prstGeom prst="rect">
            <a:avLst/>
          </a:prstGeom>
          <a:solidFill>
            <a:srgbClr val="131A45"/>
          </a:solidFill>
          <a:ln cap="flat" cmpd="sng" w="12700">
            <a:solidFill>
              <a:srgbClr val="131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9"/>
          <p:cNvSpPr/>
          <p:nvPr/>
        </p:nvSpPr>
        <p:spPr>
          <a:xfrm>
            <a:off x="457200" y="96012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EB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EB5"/>
                </a:solidFill>
                <a:latin typeface="Calibri"/>
                <a:ea typeface="Calibri"/>
                <a:cs typeface="Calibri"/>
                <a:sym typeface="Calibri"/>
              </a:rPr>
              <a:t>단계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9"/>
          <p:cNvSpPr/>
          <p:nvPr/>
        </p:nvSpPr>
        <p:spPr>
          <a:xfrm>
            <a:off x="1920240" y="960120"/>
            <a:ext cx="4617720" cy="256032"/>
          </a:xfrm>
          <a:prstGeom prst="rect">
            <a:avLst/>
          </a:prstGeom>
          <a:solidFill>
            <a:srgbClr val="131A45"/>
          </a:solidFill>
          <a:ln cap="flat" cmpd="sng" w="12700">
            <a:solidFill>
              <a:srgbClr val="131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9"/>
          <p:cNvSpPr/>
          <p:nvPr/>
        </p:nvSpPr>
        <p:spPr>
          <a:xfrm>
            <a:off x="1920240" y="960120"/>
            <a:ext cx="4617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EB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EB5"/>
                </a:solidFill>
                <a:latin typeface="Calibri"/>
                <a:ea typeface="Calibri"/>
                <a:cs typeface="Calibri"/>
                <a:sym typeface="Calibri"/>
              </a:rPr>
              <a:t>핵심 인사이트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9"/>
          <p:cNvSpPr/>
          <p:nvPr/>
        </p:nvSpPr>
        <p:spPr>
          <a:xfrm>
            <a:off x="6583680" y="960120"/>
            <a:ext cx="5120640" cy="256032"/>
          </a:xfrm>
          <a:prstGeom prst="rect">
            <a:avLst/>
          </a:prstGeom>
          <a:solidFill>
            <a:srgbClr val="131A45"/>
          </a:solidFill>
          <a:ln cap="flat" cmpd="sng" w="12700">
            <a:solidFill>
              <a:srgbClr val="131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9"/>
          <p:cNvSpPr/>
          <p:nvPr/>
        </p:nvSpPr>
        <p:spPr>
          <a:xfrm>
            <a:off x="6583680" y="96012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EB5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B7EB5"/>
                </a:solidFill>
                <a:latin typeface="Calibri"/>
                <a:ea typeface="Calibri"/>
                <a:cs typeface="Calibri"/>
                <a:sym typeface="Calibri"/>
              </a:rPr>
              <a:t>행동 유도를</a:t>
            </a:r>
            <a:r>
              <a:rPr b="1" i="0" lang="en-US" sz="1000" u="none" cap="none" strike="noStrike">
                <a:solidFill>
                  <a:srgbClr val="6B7EB5"/>
                </a:solidFill>
                <a:latin typeface="Calibri"/>
                <a:ea typeface="Calibri"/>
                <a:cs typeface="Calibri"/>
                <a:sym typeface="Calibri"/>
              </a:rPr>
              <a:t> 위한 액션 플랜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9"/>
          <p:cNvSpPr/>
          <p:nvPr/>
        </p:nvSpPr>
        <p:spPr>
          <a:xfrm>
            <a:off x="457200" y="1261872"/>
            <a:ext cx="11247120" cy="1005840"/>
          </a:xfrm>
          <a:prstGeom prst="rect">
            <a:avLst/>
          </a:prstGeom>
          <a:solidFill>
            <a:srgbClr val="192050"/>
          </a:solidFill>
          <a:ln cap="flat" cmpd="sng" w="9525">
            <a:solidFill>
              <a:srgbClr val="2D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9"/>
          <p:cNvSpPr/>
          <p:nvPr/>
        </p:nvSpPr>
        <p:spPr>
          <a:xfrm>
            <a:off x="457200" y="1261872"/>
            <a:ext cx="1417320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9"/>
          <p:cNvSpPr/>
          <p:nvPr/>
        </p:nvSpPr>
        <p:spPr>
          <a:xfrm>
            <a:off x="457200" y="1261872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3" name="Google Shape;813;p39"/>
          <p:cNvCxnSpPr/>
          <p:nvPr/>
        </p:nvCxnSpPr>
        <p:spPr>
          <a:xfrm>
            <a:off x="6565392" y="1353312"/>
            <a:ext cx="0" cy="822960"/>
          </a:xfrm>
          <a:prstGeom prst="straightConnector1">
            <a:avLst/>
          </a:prstGeom>
          <a:noFill/>
          <a:ln cap="flat" cmpd="sng" w="10150">
            <a:solidFill>
              <a:srgbClr val="2D3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4" name="Google Shape;814;p39"/>
          <p:cNvSpPr/>
          <p:nvPr/>
        </p:nvSpPr>
        <p:spPr>
          <a:xfrm>
            <a:off x="1920240" y="1335024"/>
            <a:ext cx="45262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MQL당 매출 기준으로 채널 재평가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paid R$97.9 vs social R$32 — 3배 차이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unknown CVR 1위(16.7%)지만 추적 불가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9"/>
          <p:cNvSpPr/>
          <p:nvPr/>
        </p:nvSpPr>
        <p:spPr>
          <a:xfrm>
            <a:off x="6656832" y="1335024"/>
            <a:ext cx="493776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social 예산 30~40% → paid·referral 재배분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unknown UTM 정비로 출처 파악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MQL당 매출을 채널 KPI로 공식화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9"/>
          <p:cNvSpPr/>
          <p:nvPr/>
        </p:nvSpPr>
        <p:spPr>
          <a:xfrm>
            <a:off x="457200" y="2340864"/>
            <a:ext cx="11247120" cy="1005840"/>
          </a:xfrm>
          <a:prstGeom prst="rect">
            <a:avLst/>
          </a:prstGeom>
          <a:solidFill>
            <a:srgbClr val="1A2456"/>
          </a:solidFill>
          <a:ln cap="flat" cmpd="sng" w="9525">
            <a:solidFill>
              <a:srgbClr val="2D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9"/>
          <p:cNvSpPr/>
          <p:nvPr/>
        </p:nvSpPr>
        <p:spPr>
          <a:xfrm>
            <a:off x="457200" y="2340864"/>
            <a:ext cx="1417320" cy="100584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9"/>
          <p:cNvSpPr/>
          <p:nvPr/>
        </p:nvSpPr>
        <p:spPr>
          <a:xfrm>
            <a:off x="457200" y="2340864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9" name="Google Shape;819;p39"/>
          <p:cNvCxnSpPr/>
          <p:nvPr/>
        </p:nvCxnSpPr>
        <p:spPr>
          <a:xfrm>
            <a:off x="6565392" y="2432304"/>
            <a:ext cx="0" cy="822960"/>
          </a:xfrm>
          <a:prstGeom prst="straightConnector1">
            <a:avLst/>
          </a:prstGeom>
          <a:noFill/>
          <a:ln cap="flat" cmpd="sng" w="10150">
            <a:solidFill>
              <a:srgbClr val="2D3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0" name="Google Shape;820;p39"/>
          <p:cNvSpPr/>
          <p:nvPr/>
        </p:nvSpPr>
        <p:spPr>
          <a:xfrm>
            <a:off x="1920240" y="2414016"/>
            <a:ext cx="45262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Sales Cycle 짧을수록 활성화율 높음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활성 중앙값 10일 vs 휴면 21일 (p&lt;0.0001)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15일 골든타임 — 계약자 52%가 15일 이내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9"/>
          <p:cNvSpPr/>
          <p:nvPr/>
        </p:nvSpPr>
        <p:spPr>
          <a:xfrm>
            <a:off x="6656832" y="2414016"/>
            <a:ext cx="493776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리드 접촉 후 72시간 이내 첫 연락 체계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15일 이내 Fast-track 영업 프로세스 구축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Sales Cycle을 리드 스코어링 지표에 반영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9"/>
          <p:cNvSpPr/>
          <p:nvPr/>
        </p:nvSpPr>
        <p:spPr>
          <a:xfrm>
            <a:off x="457200" y="3419856"/>
            <a:ext cx="11247120" cy="1005840"/>
          </a:xfrm>
          <a:prstGeom prst="rect">
            <a:avLst/>
          </a:prstGeom>
          <a:solidFill>
            <a:srgbClr val="192050"/>
          </a:solidFill>
          <a:ln cap="flat" cmpd="sng" w="9525">
            <a:solidFill>
              <a:srgbClr val="2D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9"/>
          <p:cNvSpPr/>
          <p:nvPr/>
        </p:nvSpPr>
        <p:spPr>
          <a:xfrm>
            <a:off x="457200" y="3419856"/>
            <a:ext cx="1417320" cy="10058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9"/>
          <p:cNvSpPr/>
          <p:nvPr/>
        </p:nvSpPr>
        <p:spPr>
          <a:xfrm>
            <a:off x="457200" y="3419856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5" name="Google Shape;825;p39"/>
          <p:cNvCxnSpPr/>
          <p:nvPr/>
        </p:nvCxnSpPr>
        <p:spPr>
          <a:xfrm>
            <a:off x="6565392" y="3511296"/>
            <a:ext cx="0" cy="822960"/>
          </a:xfrm>
          <a:prstGeom prst="straightConnector1">
            <a:avLst/>
          </a:prstGeom>
          <a:noFill/>
          <a:ln cap="flat" cmpd="sng" w="10150">
            <a:solidFill>
              <a:srgbClr val="2D3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6" name="Google Shape;826;p39"/>
          <p:cNvSpPr/>
          <p:nvPr/>
        </p:nvSpPr>
        <p:spPr>
          <a:xfrm>
            <a:off x="1920240" y="3493008"/>
            <a:ext cx="45262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입점 842명 중 462명(54.9%)이 휴면 상태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28일 이내 첫 판매 avg R$3,787 vs 79일+ R$630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reseller 활성률(48.9%) &gt; manufacturer(37.2%)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9"/>
          <p:cNvSpPr/>
          <p:nvPr/>
        </p:nvSpPr>
        <p:spPr>
          <a:xfrm>
            <a:off x="6656832" y="3493008"/>
            <a:ext cx="493776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입점 후 28일 집중 온보딩 프로그램 가동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28일 미판매 셀러 자동 위험군 분류 → SR 개입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manufacturer 전용 45일 확장 온보딩 트랙 신설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9"/>
          <p:cNvSpPr/>
          <p:nvPr/>
        </p:nvSpPr>
        <p:spPr>
          <a:xfrm>
            <a:off x="457200" y="4498848"/>
            <a:ext cx="11247120" cy="1005840"/>
          </a:xfrm>
          <a:prstGeom prst="rect">
            <a:avLst/>
          </a:prstGeom>
          <a:solidFill>
            <a:srgbClr val="1A2456"/>
          </a:solidFill>
          <a:ln cap="flat" cmpd="sng" w="9525">
            <a:solidFill>
              <a:srgbClr val="2D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9"/>
          <p:cNvSpPr/>
          <p:nvPr/>
        </p:nvSpPr>
        <p:spPr>
          <a:xfrm>
            <a:off x="457200" y="4498848"/>
            <a:ext cx="1417320" cy="10058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9"/>
          <p:cNvSpPr/>
          <p:nvPr/>
        </p:nvSpPr>
        <p:spPr>
          <a:xfrm>
            <a:off x="457200" y="4498848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1" name="Google Shape;831;p39"/>
          <p:cNvCxnSpPr/>
          <p:nvPr/>
        </p:nvCxnSpPr>
        <p:spPr>
          <a:xfrm>
            <a:off x="6565392" y="4590288"/>
            <a:ext cx="0" cy="822960"/>
          </a:xfrm>
          <a:prstGeom prst="straightConnector1">
            <a:avLst/>
          </a:prstGeom>
          <a:noFill/>
          <a:ln cap="flat" cmpd="sng" w="10150">
            <a:solidFill>
              <a:srgbClr val="2D3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2" name="Google Shape;832;p39"/>
          <p:cNvSpPr/>
          <p:nvPr/>
        </p:nvSpPr>
        <p:spPr>
          <a:xfrm>
            <a:off x="1920240" y="4572000"/>
            <a:ext cx="45262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referral avg LTV 1,988 BRL — 추적가능 최고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활성률 37.5% 최하위 → 고위험·고수익 채널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스타셀러 상위 10%(38명)가 GMV의 64.7% 담당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9"/>
          <p:cNvSpPr/>
          <p:nvPr/>
        </p:nvSpPr>
        <p:spPr>
          <a:xfrm>
            <a:off x="6656832" y="4572000"/>
            <a:ext cx="493776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referral 파트너 인센티브 프로그램 신설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상위 20%(76명) 전담 매니저 배정 + 락인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채널별 리뷰 4.0·배송준수율 80% 기준선 설정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9"/>
          <p:cNvSpPr/>
          <p:nvPr/>
        </p:nvSpPr>
        <p:spPr>
          <a:xfrm>
            <a:off x="457200" y="5577840"/>
            <a:ext cx="11247120" cy="1005840"/>
          </a:xfrm>
          <a:prstGeom prst="rect">
            <a:avLst/>
          </a:prstGeom>
          <a:solidFill>
            <a:srgbClr val="192050"/>
          </a:solidFill>
          <a:ln cap="flat" cmpd="sng" w="9525">
            <a:solidFill>
              <a:srgbClr val="2D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9"/>
          <p:cNvSpPr/>
          <p:nvPr/>
        </p:nvSpPr>
        <p:spPr>
          <a:xfrm>
            <a:off x="457200" y="5577840"/>
            <a:ext cx="1417320" cy="10058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9"/>
          <p:cNvSpPr/>
          <p:nvPr/>
        </p:nvSpPr>
        <p:spPr>
          <a:xfrm>
            <a:off x="457200" y="557784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7" name="Google Shape;837;p39"/>
          <p:cNvCxnSpPr/>
          <p:nvPr/>
        </p:nvCxnSpPr>
        <p:spPr>
          <a:xfrm>
            <a:off x="6565392" y="5669280"/>
            <a:ext cx="0" cy="822960"/>
          </a:xfrm>
          <a:prstGeom prst="straightConnector1">
            <a:avLst/>
          </a:prstGeom>
          <a:noFill/>
          <a:ln cap="flat" cmpd="sng" w="10150">
            <a:solidFill>
              <a:srgbClr val="2D3D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8" name="Google Shape;838;p39"/>
          <p:cNvSpPr/>
          <p:nvPr/>
        </p:nvSpPr>
        <p:spPr>
          <a:xfrm>
            <a:off x="1920240" y="5650992"/>
            <a:ext cx="45262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organic GMV R$207K(추적가능 1위)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paid GMV/MQL R$97.9 — ROI 1위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4F0"/>
                </a:solidFill>
                <a:latin typeface="Calibri"/>
                <a:ea typeface="Calibri"/>
                <a:cs typeface="Calibri"/>
                <a:sym typeface="Calibri"/>
              </a:rPr>
              <a:t>상위 20%(76명)가 GMV 78.1% 담당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9"/>
          <p:cNvSpPr/>
          <p:nvPr/>
        </p:nvSpPr>
        <p:spPr>
          <a:xfrm>
            <a:off x="6656832" y="5650992"/>
            <a:ext cx="493776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paid+organic 채널 우선 투자 확대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상위 20% 이탈 조기 감지 알림 시스템 구축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paid MQL +100건 시 GMV +R$9,837 시나리오 기반 예산 협의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9"/>
          <p:cNvSpPr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solidFill>
            <a:srgbClr val="131A45"/>
          </a:solidFill>
          <a:ln cap="flat" cmpd="sng" w="12700">
            <a:solidFill>
              <a:srgbClr val="131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9"/>
          <p:cNvSpPr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핵심: 빠른 셀러를 빠르게 잡고  →  28일 안에 첫 판매로 연결하고  →  살아남은 상위 20%를 락인하라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