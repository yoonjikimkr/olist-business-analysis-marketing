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805391-5B08-48BD-8AA7-55B8B8C6D457}">
  <a:tblStyle styleId="{FF805391-5B08-48BD-8AA7-55B8B8C6D45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[표지]</a:t>
            </a:r>
            <a:br>
              <a:rPr lang="en-US"/>
            </a:br>
            <a:r>
              <a:rPr lang="en-US"/>
              <a:t>이 보고서는 브라질 B2B 이커머스 플랫폼 Olist의 셀러 데이터를 AARRR 프레임워크로 분석한 결과입니다.</a:t>
            </a:r>
            <a:br>
              <a:rPr lang="en-US"/>
            </a:br>
            <a:r>
              <a:rPr lang="en-US"/>
              <a:t>핵심 질문은 하나입니다: "누구를, 어떻게 데려와야 오래, 많이 파는가"</a:t>
            </a:r>
            <a:br>
              <a:rPr lang="en-US"/>
            </a:br>
            <a:r>
              <a:rPr lang="en-US"/>
              <a:t>분석 기간은 2016~2018년이며, 총 8,000명의 MQL(관심 표명 셀러) 데이터를 사용했습니다.</a:t>
            </a:r>
            <a:br>
              <a:rPr lang="en-US"/>
            </a:br>
            <a:r>
              <a:rPr lang="en-US"/>
              <a:t>오늘 발표는 Acquisition → Activation → Retention → Referral → Revenue 순으로 진행됩니다.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[데이터셋 소개]</a:t>
            </a:r>
            <a:br>
              <a:rPr lang="en-US"/>
            </a:br>
            <a:r>
              <a:rPr lang="en-US"/>
              <a:t>Olist는 브라질 최대 B2B 이커머스 중개 플랫폼입니다. 셀러가 Olist와 계약하면 여러 마켓플레이스에 동시 입점할 수 있어, 중소 셀러에게 유통 채널을 제공하는 구조입니다.</a:t>
            </a:r>
            <a:br>
              <a:rPr lang="en-US"/>
            </a:br>
            <a:r>
              <a:rPr lang="en-US"/>
              <a:t>원본 데이터는 두 테이블로 분리되어 있었습니다.</a:t>
            </a:r>
            <a:br>
              <a:rPr lang="en-US"/>
            </a:br>
            <a:r>
              <a:rPr lang="en-US"/>
              <a:t>- marketing_qualified_leads: 관심을 표명한 8,000명 전체 MQL 기록 (채널, 랜딩페이지, 접촉일)</a:t>
            </a:r>
            <a:br>
              <a:rPr lang="en-US"/>
            </a:br>
            <a:r>
              <a:rPr lang="en-US"/>
              <a:t>- closed_deals: 실제 계약에 성공한 842명의 상세 정보 (리드타입, 사업형태, 월 매출 신고액 등)</a:t>
            </a:r>
            <a:br>
              <a:rPr lang="en-US"/>
            </a:br>
            <a:r>
              <a:rPr lang="en-US"/>
              <a:t>두 테이블을 mql_id 기준으로 LEFT JOIN해 marketing_sales_base를 구성했습니다.</a:t>
            </a:r>
            <a:br>
              <a:rPr lang="en-US"/>
            </a:br>
            <a:r>
              <a:rPr lang="en-US"/>
              <a:t>LEFT JOIN을 선택한 이유는 이탈자(7,158명)도 분석 대상에 포함시키기 위해서입니다. 이탈자를 제외하면 89.5%의 데이터를 잃게 됩니다.</a:t>
            </a:r>
            <a:br>
              <a:rPr lang="en-US"/>
            </a:br>
            <a:r>
              <a:rPr lang="en-US"/>
              <a:t>하단 카드는 각 AARRR 파트에서 주로 사용된 컬럼 그룹입니다. Referral 파트는 이 CSV가 아닌 별도 주문·리뷰 테이블을 추가로 사용했습니다.</a:t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[주요 컬럼 의미]</a:t>
            </a:r>
            <a:br>
              <a:rPr lang="en-US"/>
            </a:br>
            <a:r>
              <a:rPr lang="en-US"/>
              <a:t>이 표는 각 컬럼이 분석에서 어떤 역할을 하는지 보여줍니다. 몇 가지 주의할 점이 있습니다.</a:t>
            </a:r>
            <a:br>
              <a:rPr lang="en-US"/>
            </a:br>
            <a:br>
              <a:rPr lang="en-US"/>
            </a:br>
            <a:r>
              <a:rPr lang="en-US"/>
              <a:t>1. origin(유입 채널): 실제로는 10개 값이 존재하지만, 분석은 표본이 충분한 5개(paid_search, organic_search, social, direct_traffic, unknown) 채널을 중심으로 진행했습니다. email, display 등은 표본이 너무 작아 통계적 신뢰도가 낮습니다.</a:t>
            </a:r>
            <a:br>
              <a:rPr lang="en-US"/>
            </a:br>
            <a:br>
              <a:rPr lang="en-US"/>
            </a:br>
            <a:r>
              <a:rPr lang="en-US"/>
              <a:t>2. Sales Cycle Days는 파생 변수입니다. won_date에서 first_contact_date를 빼서 계산하며, 활성 셀러 중앙값 10일 vs 휴면 셀러 21일로 생존의 핵심 선행 지표가 됩니다.</a:t>
            </a:r>
            <a:br>
              <a:rPr lang="en-US"/>
            </a:br>
            <a:br>
              <a:rPr lang="en-US"/>
            </a:br>
            <a:r>
              <a:rPr lang="en-US"/>
              <a:t>3. lead_type과 business_segment는 계약자(842명)에만 값이 존재합니다. 이탈한 7,158명은 이 정보가 없기 때문에 Activation·Retention 파트 분석은 계약자 기준입니다.</a:t>
            </a:r>
            <a:br>
              <a:rPr lang="en-US"/>
            </a:br>
            <a:br>
              <a:rPr lang="en-US"/>
            </a:br>
            <a:r>
              <a:rPr lang="en-US"/>
              <a:t>4. lead_behaviour_profile에는 'shark, cat'처럼 복합 분류된 케이스가 16건 있습니다. 분석에서는 첫 번째 프로파일 기준으로 처리했습니다.</a:t>
            </a:r>
            <a:br>
              <a:rPr lang="en-US"/>
            </a:br>
            <a:br>
              <a:rPr lang="en-US"/>
            </a:br>
            <a:r>
              <a:rPr lang="en-US"/>
              <a:t>5. Referral 파트의 리뷰·배송 분석은 olist_order_reviews, olist_orders 등 별도 테이블을 사용했습니다. 이 CSV만으로는 Referral 분석이 불가능합니다.</a:t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[AARRR 프레임워크 개요]</a:t>
            </a:r>
            <a:br>
              <a:rPr lang="en-US"/>
            </a:br>
            <a:r>
              <a:rPr lang="en-US"/>
              <a:t>이 보고서에서 각 AARRR 단계는 다음과 같이 정의합니다.</a:t>
            </a:r>
            <a:br>
              <a:rPr lang="en-US"/>
            </a:br>
            <a:br>
              <a:rPr lang="en-US"/>
            </a:br>
            <a:r>
              <a:rPr lang="en-US"/>
              <a:t>- Acquisition: 어떤 채널이, 어떤 셀러를 데려오는가 (MQL 유입 → CVR)</a:t>
            </a:r>
            <a:br>
              <a:rPr lang="en-US"/>
            </a:br>
            <a:r>
              <a:rPr lang="en-US"/>
              <a:t>- Activation: 유입된 리드가 실제 계약(is_won=1)으로 전환되는가 (계약 전환 분석)</a:t>
            </a:r>
            <a:br>
              <a:rPr lang="en-US"/>
            </a:br>
            <a:r>
              <a:rPr lang="en-US"/>
              <a:t>- Retention: 계약한 셀러가 실제로 첫 판매를 달성하는가 (활성화율 · Sales Cycle)</a:t>
            </a:r>
            <a:br>
              <a:rPr lang="en-US"/>
            </a:br>
            <a:r>
              <a:rPr lang="en-US"/>
              <a:t>- Revenue: 판매를 시작한 셀러가 얼마나 매출을 만드는가 (GMV · LTV)</a:t>
            </a:r>
            <a:br>
              <a:rPr lang="en-US"/>
            </a:br>
            <a:r>
              <a:rPr lang="en-US"/>
              <a:t>- Referral: 셀러의 판매 경험이 플랫폼 평판으로 이어지는가 (리뷰 · 배송)</a:t>
            </a:r>
            <a:br>
              <a:rPr lang="en-US"/>
            </a:br>
            <a:br>
              <a:rPr lang="en-US"/>
            </a:br>
            <a:r>
              <a:rPr lang="en-US"/>
              <a:t>각 파트를 볼 때 앞 단계의 발견이 다음 단계로 어떻게 이어지는지 주목해주세요.</a:t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[Acquisition 개요]</a:t>
            </a:r>
            <a:br>
              <a:rPr lang="en-US"/>
            </a:br>
            <a:r>
              <a:rPr lang="en-US"/>
              <a:t>Acquisition은 유입에 집중합니다. 어떤 채널이, 몇 명을, 어떤 전환율로 데려오는가.</a:t>
            </a:r>
            <a:br>
              <a:rPr lang="en-US"/>
            </a:br>
            <a:br>
              <a:rPr lang="en-US"/>
            </a:br>
            <a:r>
              <a:rPr lang="en-US"/>
              <a:t>주목할 포인트:</a:t>
            </a:r>
            <a:br>
              <a:rPr lang="en-US"/>
            </a:br>
            <a:r>
              <a:rPr lang="en-US"/>
              <a:t>- OR(Odds Ratio): 다른 변수를 통제한 후 해당 채널이 계약으로 전환될 확률. Unknown OR 4.06은 UTM 결함으로 해석 불가.</a:t>
            </a:r>
            <a:br>
              <a:rPr lang="en-US"/>
            </a:br>
            <a:r>
              <a:rPr lang="en-US"/>
              <a:t>- CVR과 채널 품질은 별개: social CVR 5.6% 최하위이나 특정 세그먼트에서는 75%.</a:t>
            </a:r>
            <a:br>
              <a:rPr lang="en-US"/>
            </a:br>
            <a:r>
              <a:rPr lang="en-US"/>
              <a:t>- 활성화율(계약 후 첫 판매)은 Retention 파트에서 다룹니다.</a:t>
            </a:r>
            <a:br>
              <a:rPr lang="en-US"/>
            </a:br>
            <a:br>
              <a:rPr lang="en-US"/>
            </a:br>
            <a:r>
              <a:rPr lang="en-US"/>
              <a:t>핵심 메시지: 채널 선택 전에 랜딩페이지 최적화가 먼저입니다.</a:t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[Paid Search — 기본 지표]</a:t>
            </a:r>
            <a:br>
              <a:rPr lang="en-US"/>
            </a:br>
            <a:r>
              <a:rPr lang="en-US"/>
              <a:t>Acquisition 관점에서 Paid Search는 즉시 통제 가능한 유일한 채널입니다.</a:t>
            </a:r>
            <a:br>
              <a:rPr lang="en-US"/>
            </a:br>
            <a:br>
              <a:rPr lang="en-US"/>
            </a:br>
            <a:r>
              <a:rPr lang="en-US"/>
              <a:t>핵심 수치:</a:t>
            </a:r>
            <a:br>
              <a:rPr lang="en-US"/>
            </a:br>
            <a:r>
              <a:rPr lang="en-US"/>
              <a:t>- CVR 12.3%, OR 2.759 → 통계적으로 견고한 유입 채널</a:t>
            </a:r>
            <a:br>
              <a:rPr lang="en-US"/>
            </a:br>
            <a:r>
              <a:rPr lang="en-US"/>
              <a:t>- MQL당 매출 R$98 → 광고비 대비 효율 측정 기준</a:t>
            </a:r>
            <a:br>
              <a:rPr lang="en-US"/>
            </a:br>
            <a:r>
              <a:rPr lang="en-US"/>
              <a:t>- MCDA 종합 점수 1위(85.2점)</a:t>
            </a:r>
            <a:br>
              <a:rPr lang="en-US"/>
            </a:br>
            <a:br>
              <a:rPr lang="en-US"/>
            </a:br>
            <a:r>
              <a:rPr lang="en-US"/>
              <a:t>활성화율·Sales Cycle 분석은 Retention 파트에서 다룹니다.</a:t>
            </a:r>
            <a:br>
              <a:rPr lang="en-US"/>
            </a:br>
            <a:r>
              <a:rPr lang="en-US"/>
              <a:t>여기서는 유입의 양(MQL)과 질(CVR, OR)에 집중합니다.</a:t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[Paid Search — 랜딩페이지 효율 격차]</a:t>
            </a:r>
            <a:br>
              <a:rPr lang="en-US"/>
            </a:br>
            <a:r>
              <a:rPr lang="en-US"/>
              <a:t>같은 paid_search 채널에서 어느 랜딩페이지로 보내느냐에 따라 성과가 극단적으로 달라집니다.</a:t>
            </a:r>
            <a:br>
              <a:rPr lang="en-US"/>
            </a:br>
            <a:br>
              <a:rPr lang="en-US"/>
            </a:br>
            <a:r>
              <a:rPr lang="en-US"/>
              <a:t>핵심 발견:</a:t>
            </a:r>
            <a:br>
              <a:rPr lang="en-US"/>
            </a:br>
            <a:r>
              <a:rPr lang="en-US"/>
              <a:t>- CVR 격차: 3.0%(3cd2a830) ~ 23.8%(fbc24da5) = 8배</a:t>
            </a:r>
            <a:br>
              <a:rPr lang="en-US"/>
            </a:br>
            <a:r>
              <a:rPr lang="en-US"/>
              <a:t>- 평균매출 격차: R$218(n≥5 기준 최저) ~ R$4,215 = 약 20배 차이 (활성 셀러 기준)</a:t>
            </a:r>
            <a:br>
              <a:rPr lang="en-US"/>
            </a:br>
            <a:r>
              <a:rPr lang="en-US"/>
              <a:t>- 22c29808: CVR 16.1% + 평균매출 R$4,215로 압도적 1위 → 이 페이지로 트래픽 집중이 첫 번째 액션</a:t>
            </a:r>
            <a:br>
              <a:rPr lang="en-US"/>
            </a:br>
            <a:br>
              <a:rPr lang="en-US"/>
            </a:br>
            <a:r>
              <a:rPr lang="en-US"/>
              <a:t>주의: fbc24da5(21명)는 표본 작아 추가 검증 필요. 22c29808(124명), 40dec9f3(241명)은 신뢰도 높음.</a:t>
            </a:r>
            <a:br>
              <a:rPr lang="en-US"/>
            </a:br>
            <a:r>
              <a:rPr lang="en-US"/>
              <a:t>b76ef374는 unknown 비율 71.9% → UTM 결함 페이지로 별도 처리 필요.</a:t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[Organic Search]</a:t>
            </a:r>
            <a:br>
              <a:rPr lang="en-US"/>
            </a:br>
            <a:r>
              <a:rPr lang="en-US"/>
              <a:t>Organic Search는 광고비 없이 전체 매출의 30.6%를 차지하는 장기 자산입니다.</a:t>
            </a:r>
            <a:br>
              <a:rPr lang="en-US"/>
            </a:br>
            <a:br>
              <a:rPr lang="en-US"/>
            </a:br>
            <a:r>
              <a:rPr lang="en-US"/>
              <a:t>주요 수치:</a:t>
            </a:r>
            <a:br>
              <a:rPr lang="en-US"/>
            </a:br>
            <a:r>
              <a:rPr lang="en-US"/>
              <a:t>- MQL 2,296명으로 전체 1위, CVR 11.8%, 평균매출 R$1,832(paid R$1,537 대비 19% 높음)</a:t>
            </a:r>
            <a:br>
              <a:rPr lang="en-US"/>
            </a:br>
            <a:r>
              <a:rPr lang="en-US"/>
              <a:t>- 시기별 CVR 표준편차 1.7%p → 전체 채널 중 가장 안정적</a:t>
            </a:r>
            <a:br>
              <a:rPr lang="en-US"/>
            </a:br>
            <a:br>
              <a:rPr lang="en-US"/>
            </a:br>
            <a:r>
              <a:rPr lang="en-US"/>
              <a:t>업종별 Organic vs Paid 전략:</a:t>
            </a:r>
            <a:br>
              <a:rPr lang="en-US"/>
            </a:br>
            <a:r>
              <a:rPr lang="en-US"/>
              <a:t>- Organic 압도 업종(home_decor 44건 vs paid 20건, pet 10 vs 5건): 검색 의도가 강한 업종. SEO 강화가 효율적.</a:t>
            </a:r>
            <a:br>
              <a:rPr lang="en-US"/>
            </a:br>
            <a:r>
              <a:rPr lang="en-US"/>
              <a:t>- Paid 우위 업종(health_beauty paid 26 vs organic 21건): 광고 노출이 더 효과적인 업종.</a:t>
            </a:r>
            <a:br>
              <a:rPr lang="en-US"/>
            </a:br>
            <a:br>
              <a:rPr lang="en-US"/>
            </a:br>
            <a:r>
              <a:rPr lang="en-US"/>
              <a:t>BCG CASH COW: 대볼륨 + 비용 0원. 단, SEO는 단기 성과를 기대하기 어렵습니다. 지금 투자하면 6~12개월 후 효과.</a:t>
            </a:r>
            <a:br>
              <a:rPr lang="en-US"/>
            </a:br>
            <a:br>
              <a:rPr lang="en-US"/>
            </a:br>
            <a:r>
              <a:rPr lang="en-US"/>
              <a:t>셀러 프로필: online_medium 32%, reseller 중심. home_decor·car_accessories 업종 강점.</a:t>
            </a:r>
            <a:endParaRPr/>
          </a:p>
        </p:txBody>
      </p:sp>
      <p:sp>
        <p:nvSpPr>
          <p:cNvPr id="238" name="Google Shape;23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[Direct Traffic]</a:t>
            </a:r>
            <a:br>
              <a:rPr lang="en-US"/>
            </a:br>
            <a:r>
              <a:rPr lang="en-US"/>
              <a:t>Direct Traffic은 URL 직접 입력 또는 북마크 접속. 이미 Olist를 알고 있다는 의미 → 브랜드 인지도의 직접 증거.</a:t>
            </a:r>
            <a:br>
              <a:rPr lang="en-US"/>
            </a:br>
            <a:br>
              <a:rPr lang="en-US"/>
            </a:br>
            <a:r>
              <a:rPr lang="en-US"/>
              <a:t>효율 지표 전반 1위:</a:t>
            </a:r>
            <a:br>
              <a:rPr lang="en-US"/>
            </a:br>
            <a:r>
              <a:rPr lang="en-US"/>
              <a:t>- 활성화율 55.4% (전체 1위)</a:t>
            </a:r>
            <a:br>
              <a:rPr lang="en-US"/>
            </a:br>
            <a:r>
              <a:rPr lang="en-US"/>
              <a:t>- Sales Cycle 중앙값 10일 (전체 1위)</a:t>
            </a:r>
            <a:br>
              <a:rPr lang="en-US"/>
            </a:br>
            <a:r>
              <a:rPr lang="en-US"/>
              <a:t>- 7일 내 전환 41.1% (전체 1위)</a:t>
            </a:r>
            <a:br>
              <a:rPr lang="en-US"/>
            </a:br>
            <a:r>
              <a:rPr lang="en-US"/>
              <a:t>- 매출 안정성(CV) 1.63 (전체 최저 = 가장 안정적)</a:t>
            </a:r>
            <a:br>
              <a:rPr lang="en-US"/>
            </a:br>
            <a:br>
              <a:rPr lang="en-US"/>
            </a:br>
            <a:r>
              <a:rPr lang="en-US"/>
              <a:t>오프라인 사업자 비율 18%: 다른 채널(5~10%)의 2배. 오프라인 사업자의 디지털 전환 진입로 역할.</a:t>
            </a:r>
            <a:br>
              <a:rPr lang="en-US"/>
            </a:br>
            <a:r>
              <a:rPr lang="en-US"/>
              <a:t>2018년 MQL +283%: 브랜드 인지도 상승의 직접 증거.</a:t>
            </a:r>
            <a:br>
              <a:rPr lang="en-US"/>
            </a:br>
            <a:br>
              <a:rPr lang="en-US"/>
            </a:br>
            <a:r>
              <a:rPr lang="en-US"/>
              <a:t>BCG QUESTION MARK: 소볼륨(499명)이지만 고효율. 광고로는 늘릴 수 없습니다. 브랜드 캠페인·오프라인 행사·Referral 프로그램으로만 볼륨 확대 가능.</a:t>
            </a:r>
            <a:endParaRPr/>
          </a:p>
        </p:txBody>
      </p:sp>
      <p:sp>
        <p:nvSpPr>
          <p:cNvPr id="277" name="Google Shape;2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[Social]</a:t>
            </a:r>
            <a:br>
              <a:rPr lang="en-US"/>
            </a:br>
            <a:r>
              <a:rPr lang="en-US"/>
              <a:t>Social은 평균 지표만 보면 최하위지만, 내부를 쪼개보면 완전히 다른 그림이 나옵니다.</a:t>
            </a:r>
            <a:br>
              <a:rPr lang="en-US"/>
            </a:br>
            <a:br>
              <a:rPr lang="en-US"/>
            </a:br>
            <a:r>
              <a:rPr lang="en-US"/>
              <a:t>핵심 양극화 (계약 후 판매 달성율 기준):</a:t>
            </a:r>
            <a:br>
              <a:rPr lang="en-US"/>
            </a:br>
            <a:r>
              <a:rPr lang="en-US"/>
              <a:t>- online_big × Social 계약자: 계약 후 판매 달성율 75% (이 세그먼트 한정)</a:t>
            </a:r>
            <a:br>
              <a:rPr lang="en-US"/>
            </a:br>
            <a:r>
              <a:rPr lang="en-US"/>
              <a:t>- offline × Social 계약자: 계약 후 판매 달성율 12% → 전체 최하위</a:t>
            </a:r>
            <a:br>
              <a:rPr lang="en-US"/>
            </a:br>
            <a:br>
              <a:rPr lang="en-US"/>
            </a:br>
            <a:r>
              <a:rPr lang="en-US"/>
              <a:t>주의: 이 75%/12%는 Retention 지표(계약 후 첫 판매 달성율)입니다.</a:t>
            </a:r>
            <a:br>
              <a:rPr lang="en-US"/>
            </a:br>
            <a:r>
              <a:rPr lang="en-US"/>
              <a:t>Acquisition 관점의 순수 CVR은 social 전체 5.6%로 최하위입니다.</a:t>
            </a:r>
            <a:br>
              <a:rPr lang="en-US"/>
            </a:br>
            <a:br>
              <a:rPr lang="en-US"/>
            </a:br>
            <a:r>
              <a:rPr lang="en-US"/>
              <a:t>2018-04 이상 신호: MQL +134%, CVR -56% 동시 발생 → 타겟팅 없는 대규모 캠페인 집행 가능성. 즉시 원인 점검 필요.</a:t>
            </a:r>
            <a:br>
              <a:rPr lang="en-US"/>
            </a:br>
            <a:br>
              <a:rPr lang="en-US"/>
            </a:br>
            <a:r>
              <a:rPr lang="en-US"/>
              <a:t>결론: Social 예산 삭감이 아니라 online_big/medium으로 타겟을 좁히고 offline/industry는 제거하는 외과 수술이 정답입니다.</a:t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[Unknown — UTM 추적 결함]</a:t>
            </a:r>
            <a:br>
              <a:rPr lang="en-US"/>
            </a:br>
            <a:r>
              <a:rPr lang="en-US"/>
              <a:t>Unknown은 지표상 CVR·OR·매출 모두 1위지만, 실제 채널이 아닌 데이터 수집 오류입니다.</a:t>
            </a:r>
            <a:br>
              <a:rPr lang="en-US"/>
            </a:br>
            <a:br>
              <a:rPr lang="en-US"/>
            </a:br>
            <a:r>
              <a:rPr lang="en-US"/>
              <a:t>핵심 근거:</a:t>
            </a:r>
            <a:br>
              <a:rPr lang="en-US"/>
            </a:br>
            <a:r>
              <a:rPr lang="en-US"/>
              <a:t>- Unknown 1,159명 중 656명(56.7%)이 단일 랜딩페이지 b76ef374에 집중</a:t>
            </a:r>
            <a:br>
              <a:rPr lang="en-US"/>
            </a:br>
            <a:r>
              <a:rPr lang="en-US"/>
              <a:t>- b76ef374의 unknown 비율: 71.9% vs 다른 랜딩페이지 평균 4.1% (17배 차이)</a:t>
            </a:r>
            <a:br>
              <a:rPr lang="en-US"/>
            </a:br>
            <a:br>
              <a:rPr lang="en-US"/>
            </a:br>
            <a:r>
              <a:rPr lang="en-US"/>
              <a:t>실무 대응:</a:t>
            </a:r>
            <a:br>
              <a:rPr lang="en-US"/>
            </a:br>
            <a:r>
              <a:rPr lang="en-US"/>
              <a:t>1. b76ef374 URL의 UTM 파라미터 설정 점검</a:t>
            </a:r>
            <a:br>
              <a:rPr lang="en-US"/>
            </a:br>
            <a:r>
              <a:rPr lang="en-US"/>
              <a:t>2. 리다이렉트 체인에서 UTM 소실 구간 확인</a:t>
            </a:r>
            <a:br>
              <a:rPr lang="en-US"/>
            </a:br>
            <a:r>
              <a:rPr lang="en-US"/>
              <a:t>3. 추적 시스템 전면 감사</a:t>
            </a:r>
            <a:br>
              <a:rPr lang="en-US"/>
            </a:br>
            <a:r>
              <a:rPr lang="en-US"/>
              <a:t>Unknown 지표를 채널 성과로 해석하거나 예산 배분 기준으로 사용하지 말 것.</a:t>
            </a:r>
            <a:endParaRPr/>
          </a:p>
        </p:txBody>
      </p:sp>
      <p:sp>
        <p:nvSpPr>
          <p:cNvPr id="319" name="Google Shape;3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[Acquisition 종합 — MCDA]</a:t>
            </a:r>
            <a:br>
              <a:rPr lang="en-US"/>
            </a:br>
            <a:r>
              <a:rPr lang="en-US"/>
              <a:t>MCDA(Multi-Criteria Decision Analysis): CVR, 활성화율, 매출효율, 안정성, 액션가능성을 종합 가중해 채널 순위 도출.</a:t>
            </a:r>
            <a:br>
              <a:rPr lang="en-US"/>
            </a:br>
            <a:br>
              <a:rPr lang="en-US"/>
            </a:br>
            <a:r>
              <a:rPr lang="en-US"/>
              <a:t>결과:</a:t>
            </a:r>
            <a:br>
              <a:rPr lang="en-US"/>
            </a:br>
            <a:r>
              <a:rPr lang="en-US"/>
              <a:t>1위 Paid Search 85.2점: 즉시 통제 가능, 최적화 여지 큼</a:t>
            </a:r>
            <a:br>
              <a:rPr lang="en-US"/>
            </a:br>
            <a:r>
              <a:rPr lang="en-US"/>
              <a:t>2위 Direct 81.6점: 효율 1위지만 볼륨 확대 어려움</a:t>
            </a:r>
            <a:br>
              <a:rPr lang="en-US"/>
            </a:br>
            <a:r>
              <a:rPr lang="en-US"/>
              <a:t>3위 Unknown 77.8점: 지표 높지만 액션 불가 → 실질 2위는 Direct</a:t>
            </a:r>
            <a:br>
              <a:rPr lang="en-US"/>
            </a:br>
            <a:r>
              <a:rPr lang="en-US"/>
              <a:t>4위 Organic 72.2점: 비용 0원, 장기 안정성 최고</a:t>
            </a:r>
            <a:br>
              <a:rPr lang="en-US"/>
            </a:br>
            <a:r>
              <a:rPr lang="en-US"/>
              <a:t>5위 Social 51.7점: 타겟팅 개선 시 점수 상승 여지</a:t>
            </a:r>
            <a:br>
              <a:rPr lang="en-US"/>
            </a:br>
            <a:br>
              <a:rPr lang="en-US"/>
            </a:br>
            <a:r>
              <a:rPr lang="en-US"/>
              <a:t>채널별 본질 한 줄 정의:</a:t>
            </a:r>
            <a:br>
              <a:rPr lang="en-US"/>
            </a:br>
            <a:r>
              <a:rPr lang="en-US"/>
              <a:t>- Paid: 랜딩페이지에 좌우되는 광고 엔진</a:t>
            </a:r>
            <a:br>
              <a:rPr lang="en-US"/>
            </a:br>
            <a:r>
              <a:rPr lang="en-US"/>
              <a:t>- Organic: 광고비 0원의 매출 1위 자산</a:t>
            </a:r>
            <a:br>
              <a:rPr lang="en-US"/>
            </a:br>
            <a:r>
              <a:rPr lang="en-US"/>
              <a:t>- Direct: 오프라인 사업자의 디지털 진입로</a:t>
            </a:r>
            <a:br>
              <a:rPr lang="en-US"/>
            </a:br>
            <a:r>
              <a:rPr lang="en-US"/>
              <a:t>- Social: 양극화된 외과 수술 대상</a:t>
            </a:r>
            <a:br>
              <a:rPr lang="en-US"/>
            </a:br>
            <a:r>
              <a:rPr lang="en-US"/>
              <a:t>- Unknown: UTM 결함 (단기 액션 불가)</a:t>
            </a:r>
            <a:endParaRPr/>
          </a:p>
        </p:txBody>
      </p:sp>
      <p:sp>
        <p:nvSpPr>
          <p:cNvPr id="340" name="Google Shape;3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[Activation 개요]</a:t>
            </a:r>
            <a:br>
              <a:rPr lang="en-US"/>
            </a:br>
            <a:r>
              <a:rPr lang="en-US"/>
              <a:t>Activation은 유입(MQL) → 계약(is_won=1) 전환에 집중합니다.</a:t>
            </a:r>
            <a:br>
              <a:rPr lang="en-US"/>
            </a:br>
            <a:r>
              <a:rPr lang="en-US"/>
              <a:t>계약 이후 첫 판매 달성 여부(활성화율, Sales Cycle)는 Retention 파트입니다.</a:t>
            </a:r>
            <a:br>
              <a:rPr lang="en-US"/>
            </a:br>
            <a:br>
              <a:rPr lang="en-US"/>
            </a:br>
            <a:r>
              <a:rPr lang="en-US"/>
              <a:t>전체 그림: 8,000명 유입 → 842명 계약(10.5%) → 7,158명 이탈(89.5%)</a:t>
            </a:r>
            <a:br>
              <a:rPr lang="en-US"/>
            </a:br>
            <a:br>
              <a:rPr lang="en-US"/>
            </a:br>
            <a:r>
              <a:rPr lang="en-US"/>
              <a:t>4가지 핵심 발견:</a:t>
            </a:r>
            <a:br>
              <a:rPr lang="en-US"/>
            </a:br>
            <a:r>
              <a:rPr lang="en-US"/>
              <a:t>1. 유입 시기(월)가 ML 변수 중요도 1위(27.3%) → 채널보다 언제 들어왔는가가 더 중요</a:t>
            </a:r>
            <a:br>
              <a:rPr lang="en-US"/>
            </a:br>
            <a:r>
              <a:rPr lang="en-US"/>
              <a:t>2. 코호트별 계약 소요기간 37배 차이(2017Q3 332일 vs 2018Q2 9일)</a:t>
            </a:r>
            <a:br>
              <a:rPr lang="en-US"/>
            </a:br>
            <a:r>
              <a:rPr lang="en-US"/>
              <a:t>3. Social·Email 이탈률 94~97%로 극단적 → 계약 전 이탈 집중 채널</a:t>
            </a:r>
            <a:br>
              <a:rPr lang="en-US"/>
            </a:br>
            <a:r>
              <a:rPr lang="en-US"/>
              <a:t>4. 채널 분포: 계약자에서 unknown 비중이 이탈자보다 높음</a:t>
            </a:r>
            <a:br>
              <a:rPr lang="en-US"/>
            </a:br>
            <a:br>
              <a:rPr lang="en-US"/>
            </a:br>
            <a:r>
              <a:rPr lang="en-US"/>
              <a:t>예측 모델 AUC 0.714.</a:t>
            </a:r>
            <a:endParaRPr/>
          </a:p>
        </p:txBody>
      </p:sp>
      <p:sp>
        <p:nvSpPr>
          <p:cNvPr id="416" name="Google Shape;41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[Activation — 채널별 전환율 &amp; 이탈자]</a:t>
            </a:r>
            <a:br>
              <a:rPr lang="en-US"/>
            </a:br>
            <a:r>
              <a:rPr lang="en-US"/>
              <a:t>Activation은 계약 전환(MQL→is_won=1)에 집중합니다.</a:t>
            </a:r>
            <a:br>
              <a:rPr lang="en-US"/>
            </a:br>
            <a:r>
              <a:rPr lang="en-US"/>
              <a:t>계약 후 첫 판매 달성(활성화율, Sales Cycle)은 Retention 파트에서 다룹니다.</a:t>
            </a:r>
            <a:br>
              <a:rPr lang="en-US"/>
            </a:br>
            <a:br>
              <a:rPr lang="en-US"/>
            </a:br>
            <a:r>
              <a:rPr lang="en-US"/>
              <a:t>왼쪽: 채널별 CVR</a:t>
            </a:r>
            <a:br>
              <a:rPr lang="en-US"/>
            </a:br>
            <a:r>
              <a:rPr lang="en-US"/>
              <a:t>- Unknown 16.7% 1위 → UTM 결함으로 실제 채널 성과 해석 불가</a:t>
            </a:r>
            <a:br>
              <a:rPr lang="en-US"/>
            </a:br>
            <a:r>
              <a:rPr lang="en-US"/>
              <a:t>- paid(12.3%), organic(11.8%), direct(11.2%) → 실질 상위 3개 채널</a:t>
            </a:r>
            <a:br>
              <a:rPr lang="en-US"/>
            </a:br>
            <a:r>
              <a:rPr lang="en-US"/>
              <a:t>- social 5.6%, email 3.0% → 계약 전환 극히 낮음</a:t>
            </a:r>
            <a:br>
              <a:rPr lang="en-US"/>
            </a:br>
            <a:br>
              <a:rPr lang="en-US"/>
            </a:br>
            <a:r>
              <a:rPr lang="en-US"/>
              <a:t>오른쪽: 이탈자 7,158명 프로파일</a:t>
            </a:r>
            <a:br>
              <a:rPr lang="en-US"/>
            </a:br>
            <a:r>
              <a:rPr lang="en-US"/>
              <a:t>- 이탈률: email 97.0%, social 94.4% → 이 채널 MQL 대부분이 계약 전 이탈</a:t>
            </a:r>
            <a:br>
              <a:rPr lang="en-US"/>
            </a:br>
            <a:r>
              <a:rPr lang="en-US"/>
              <a:t>- 이탈자 유입 시기: 2018Q1 40%, 2018Q2 33% → 유입 급증 시기에 이탈도 급증</a:t>
            </a:r>
            <a:br>
              <a:rPr lang="en-US"/>
            </a:br>
            <a:r>
              <a:rPr lang="en-US"/>
              <a:t>- unknown 이탈률 83.7%로 가장 낮음</a:t>
            </a:r>
            <a:endParaRPr/>
          </a:p>
        </p:txBody>
      </p:sp>
      <p:sp>
        <p:nvSpPr>
          <p:cNvPr id="443" name="Google Shape;44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[Activation — 코호트 &amp; ML]</a:t>
            </a:r>
            <a:br>
              <a:rPr lang="en-US"/>
            </a:br>
            <a:r>
              <a:rPr lang="en-US"/>
              <a:t>왼쪽: 코호트별 전환율 &amp; 영업주기</a:t>
            </a:r>
            <a:br>
              <a:rPr lang="en-US"/>
            </a:br>
            <a:r>
              <a:rPr lang="en-US"/>
              <a:t>- 2017Q3: 전환율 1.9%, 영업주기 332일</a:t>
            </a:r>
            <a:br>
              <a:rPr lang="en-US"/>
            </a:br>
            <a:r>
              <a:rPr lang="en-US"/>
              <a:t>- 2018Q2: 전환율 11.8%, 영업주기 9일 (37배 차이)</a:t>
            </a:r>
            <a:br>
              <a:rPr lang="en-US"/>
            </a:br>
            <a:r>
              <a:rPr lang="en-US"/>
              <a:t>- 같은 플랫폼에서 이런 변화는 영업 프로세스·조직 구조 변화 가능성 시사</a:t>
            </a:r>
            <a:br>
              <a:rPr lang="en-US"/>
            </a:br>
            <a:br>
              <a:rPr lang="en-US"/>
            </a:br>
            <a:r>
              <a:rPr lang="en-US"/>
              <a:t>오른쪽: ML 변수 중요도</a:t>
            </a:r>
            <a:br>
              <a:rPr lang="en-US"/>
            </a:br>
            <a:r>
              <a:rPr lang="en-US"/>
              <a:t>- 유입 시기(월) 27.3%로 압도적 1위 → 채널 최적화보다 영업 환경 개선이 더 큰 레버리지</a:t>
            </a:r>
            <a:br>
              <a:rPr lang="en-US"/>
            </a:br>
            <a:br>
              <a:rPr lang="en-US"/>
            </a:br>
            <a:r>
              <a:rPr lang="en-US"/>
              <a:t>ML 한계:</a:t>
            </a:r>
            <a:br>
              <a:rPr lang="en-US"/>
            </a:br>
            <a:r>
              <a:rPr lang="en-US"/>
              <a:t>- AUC 0.714: 준수하지만 강한 예측 어려움</a:t>
            </a:r>
            <a:br>
              <a:rPr lang="en-US"/>
            </a:br>
            <a:r>
              <a:rPr lang="en-US"/>
              <a:t>- 셀러 속성(사업 규모, 온라인 경험 등)이 계약 후에만 수집 → 구조적 한계</a:t>
            </a:r>
            <a:br>
              <a:rPr lang="en-US"/>
            </a:br>
            <a:r>
              <a:rPr lang="en-US"/>
              <a:t>- 해결책: 계약 전 간단한 셀러 자기보고 설문 도입 검토</a:t>
            </a:r>
            <a:br>
              <a:rPr lang="en-US"/>
            </a:br>
            <a:br>
              <a:rPr lang="en-US"/>
            </a:br>
            <a:r>
              <a:rPr lang="en-US"/>
              <a:t>다음 Retention: 계약 842명 중 판매까지 이어진 380명(45.1%) 분석.</a:t>
            </a:r>
            <a:endParaRPr/>
          </a:p>
        </p:txBody>
      </p:sp>
      <p:sp>
        <p:nvSpPr>
          <p:cNvPr id="461" name="Google Shape;46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[Retention — Sales Cycle]</a:t>
            </a:r>
            <a:br>
              <a:rPr lang="en-US"/>
            </a:br>
            <a:r>
              <a:rPr lang="en-US"/>
              <a:t>Retention 정의: 계약(is_won=1) 후 실제 매출 발생(has_revenue=1) 달성.</a:t>
            </a:r>
            <a:br>
              <a:rPr lang="en-US"/>
            </a:br>
            <a:r>
              <a:rPr lang="en-US"/>
              <a:t>- 계약자 842명 중 활성 셀러: 380명(45.1%), 휴면 셀러: 462명(54.9%)</a:t>
            </a:r>
            <a:br>
              <a:rPr lang="en-US"/>
            </a:br>
            <a:br>
              <a:rPr lang="en-US"/>
            </a:br>
            <a:r>
              <a:rPr lang="en-US"/>
              <a:t>Sales Cycle(계약까지 걸린 시간)이 Retention의 핵심 선행 지표:</a:t>
            </a:r>
            <a:br>
              <a:rPr lang="en-US"/>
            </a:br>
            <a:r>
              <a:rPr lang="en-US"/>
              <a:t>- 활성 셀러 중앙값: 10일</a:t>
            </a:r>
            <a:br>
              <a:rPr lang="en-US"/>
            </a:br>
            <a:r>
              <a:rPr lang="en-US"/>
              <a:t>- 휴면 셀러 중앙값: 21일</a:t>
            </a:r>
            <a:br>
              <a:rPr lang="en-US"/>
            </a:br>
            <a:r>
              <a:rPr lang="en-US"/>
              <a:t>- Mann-Whitney U, p&lt;0.0001 → 통계적으로 매우 유의미</a:t>
            </a:r>
            <a:br>
              <a:rPr lang="en-US"/>
            </a:br>
            <a:br>
              <a:rPr lang="en-US"/>
            </a:br>
            <a:r>
              <a:rPr lang="en-US"/>
              <a:t>왜 Sales Cycle이 Retention을 예측하는가?</a:t>
            </a:r>
            <a:br>
              <a:rPr lang="en-US"/>
            </a:br>
            <a:r>
              <a:rPr lang="en-US"/>
              <a:t>입점 결정이 빠른 셀러 = 이미 상품과 재고가 준비된 셀러. 계약 후 상품 등록·첫 판매도 빠릅니다.</a:t>
            </a:r>
            <a:br>
              <a:rPr lang="en-US"/>
            </a:br>
            <a:br>
              <a:rPr lang="en-US"/>
            </a:br>
            <a:r>
              <a:rPr lang="en-US"/>
              <a:t>ML 변수 중요도:</a:t>
            </a:r>
            <a:br>
              <a:rPr lang="en-US"/>
            </a:br>
            <a:r>
              <a:rPr lang="en-US"/>
              <a:t>1위 sales_cycle_days(62%): 압도적. 입점 속도가 활성화를 결정</a:t>
            </a:r>
            <a:br>
              <a:rPr lang="en-US"/>
            </a:br>
            <a:r>
              <a:rPr lang="en-US"/>
              <a:t>2위 origin(13%), 3위 business_type(11%)</a:t>
            </a:r>
            <a:endParaRPr/>
          </a:p>
        </p:txBody>
      </p:sp>
      <p:sp>
        <p:nvSpPr>
          <p:cNvPr id="520" name="Google Shape;52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[Retention — 채널 &amp; 사업형태]</a:t>
            </a:r>
            <a:br>
              <a:rPr lang="en-US"/>
            </a:br>
            <a:r>
              <a:rPr lang="en-US"/>
              <a:t>왼쪽: 채널별 활성화율</a:t>
            </a:r>
            <a:br>
              <a:rPr lang="en-US"/>
            </a:br>
            <a:r>
              <a:rPr lang="en-US"/>
              <a:t>- direct_traffic 55.4%, paid_search 51.8%가 평균(45.1%) 상회</a:t>
            </a:r>
            <a:br>
              <a:rPr lang="en-US"/>
            </a:br>
            <a:r>
              <a:rPr lang="en-US"/>
              <a:t>- 유입 채널의 품질이 계약 후에도 지속됩니다.</a:t>
            </a:r>
            <a:br>
              <a:rPr lang="en-US"/>
            </a:br>
            <a:br>
              <a:rPr lang="en-US"/>
            </a:br>
            <a:r>
              <a:rPr lang="en-US"/>
              <a:t>오른쪽: Business Type별 활성화율 &amp; 평균매출</a:t>
            </a:r>
            <a:br>
              <a:rPr lang="en-US"/>
            </a:br>
            <a:r>
              <a:rPr lang="en-US"/>
              <a:t>- Reseller(n=587): 활성화율 48.9%, 평균매출 R$1,003</a:t>
            </a:r>
            <a:br>
              <a:rPr lang="en-US"/>
            </a:br>
            <a:r>
              <a:rPr lang="en-US"/>
              <a:t>- Manufacturer(n=242): 활성화율 37.2%, 평균매출 R$354 (매출 2.8배 차이)</a:t>
            </a:r>
            <a:br>
              <a:rPr lang="en-US"/>
            </a:br>
            <a:br>
              <a:rPr lang="en-US"/>
            </a:br>
            <a:r>
              <a:rPr lang="en-US"/>
              <a:t>Reseller 우위 이유: 완성 상품 보유 → 입점 당일부터 즉시 판매 가능</a:t>
            </a:r>
            <a:br>
              <a:rPr lang="en-US"/>
            </a:br>
            <a:r>
              <a:rPr lang="en-US"/>
              <a:t>Manufacturer 열위 이유: 제조 공정·품질 인증·MOQ 등 판매 전 준비 단계 길어 28일 골든타임 내 첫 판매 달성 구조적으로 어려움</a:t>
            </a:r>
            <a:br>
              <a:rPr lang="en-US"/>
            </a:br>
            <a:br>
              <a:rPr lang="en-US"/>
            </a:br>
            <a:r>
              <a:rPr lang="en-US"/>
              <a:t>전략: Reseller 우선 영업 | Manufacturer는 45일+ 확장 온보딩 + 중간 KPI(상품 등록, SKU 확보) 별도 관리</a:t>
            </a:r>
            <a:endParaRPr/>
          </a:p>
        </p:txBody>
      </p:sp>
      <p:sp>
        <p:nvSpPr>
          <p:cNvPr id="541" name="Google Shape;54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[Retention — 업종 &amp; 변수 중요도]</a:t>
            </a:r>
            <a:br>
              <a:rPr lang="en-US"/>
            </a:br>
            <a:r>
              <a:rPr lang="en-US"/>
              <a:t>왼쪽: 업종별 활성화율</a:t>
            </a:r>
            <a:br>
              <a:rPr lang="en-US"/>
            </a:br>
            <a:r>
              <a:rPr lang="en-US"/>
              <a:t>- household_utilities 62%, pet 57% 상위 2개</a:t>
            </a:r>
            <a:br>
              <a:rPr lang="en-US"/>
            </a:br>
            <a:r>
              <a:rPr lang="en-US"/>
              <a:t>- 공통점: 재고 회전 빠르고 규격화된 상품군 → 즉시 등록·판매 용이</a:t>
            </a:r>
            <a:br>
              <a:rPr lang="en-US"/>
            </a:br>
            <a:r>
              <a:rPr lang="en-US"/>
              <a:t>- food_supplement 29% 최하위: 식품 인증, 유통기한 관리 등 장벽</a:t>
            </a:r>
            <a:br>
              <a:rPr lang="en-US"/>
            </a:br>
            <a:br>
              <a:rPr lang="en-US"/>
            </a:br>
            <a:r>
              <a:rPr lang="en-US"/>
              <a:t>오른쪽: 변수 중요도</a:t>
            </a:r>
            <a:br>
              <a:rPr lang="en-US"/>
            </a:br>
            <a:r>
              <a:rPr lang="en-US"/>
              <a:t>- sales_cycle_days가 62%로 압도적 1위 → 리드 선별 시 Sales Cycle 짧은 리드 우선 원칙의 직접적 근거</a:t>
            </a:r>
            <a:br>
              <a:rPr lang="en-US"/>
            </a:br>
            <a:br>
              <a:rPr lang="en-US"/>
            </a:br>
            <a:r>
              <a:rPr lang="en-US"/>
              <a:t>업종 타겟팅: 활성화율 50% 이상 업종(household_utilities, pet, audio_video_electronics, health_beauty)을 우선 영업 → 동일 비용으로 더 많은 활성 셀러 확보.</a:t>
            </a:r>
            <a:endParaRPr/>
          </a:p>
        </p:txBody>
      </p:sp>
      <p:sp>
        <p:nvSpPr>
          <p:cNvPr id="566" name="Google Shape;56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[Revenue — 채널별 LTV 역전]</a:t>
            </a:r>
            <a:br>
              <a:rPr lang="en-US"/>
            </a:br>
            <a:r>
              <a:rPr lang="en-US"/>
              <a:t>Acquisition 단계의 채널 평가와 Revenue 단계의 채널 평가가 역전되는 지점을 보여줍니다.</a:t>
            </a:r>
            <a:br>
              <a:rPr lang="en-US"/>
            </a:br>
            <a:br>
              <a:rPr lang="en-US"/>
            </a:br>
            <a:r>
              <a:rPr lang="en-US"/>
              <a:t>파란 막대(MQL당 매출) vs 빨간 막대(Median LTV)의 역전에 주목:</a:t>
            </a:r>
            <a:br>
              <a:rPr lang="en-US"/>
            </a:br>
            <a:r>
              <a:rPr lang="en-US"/>
              <a:t>- Referral: MQL 최하위 → Median LTV R$1,400으로 1위 (역전 최대)</a:t>
            </a:r>
            <a:br>
              <a:rPr lang="en-US"/>
            </a:br>
            <a:r>
              <a:rPr lang="en-US"/>
              <a:t>- Unknown: MQL당 매출 1위 → 극단치 2명 제거 시 LTV R$512 (과대평가)</a:t>
            </a:r>
            <a:br>
              <a:rPr lang="en-US"/>
            </a:br>
            <a:r>
              <a:rPr lang="en-US"/>
              <a:t>- Social: MQL당 매출 낮음 → online_big 세그먼트에서는 LTV 높음</a:t>
            </a:r>
            <a:br>
              <a:rPr lang="en-US"/>
            </a:br>
            <a:br>
              <a:rPr lang="en-US"/>
            </a:br>
            <a:r>
              <a:rPr lang="en-US"/>
              <a:t>결론: Acquisition 지표만으로 예산을 배분하면 잘못된 결정. LTV까지 고려한 종합 평가 필요.</a:t>
            </a:r>
            <a:endParaRPr/>
          </a:p>
        </p:txBody>
      </p:sp>
      <p:sp>
        <p:nvSpPr>
          <p:cNvPr id="624" name="Google Shape;62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[Revenue — 리드 프로파일별 LTV]</a:t>
            </a:r>
            <a:br>
              <a:rPr lang="en-US"/>
            </a:br>
            <a:r>
              <a:rPr lang="en-US"/>
              <a:t>영업팀이 부여하는 행동 유형(lead_behaviour_profile)이 실제 매출과 얼마나 연관되는지 분석했습니다.</a:t>
            </a:r>
            <a:br>
              <a:rPr lang="en-US"/>
            </a:br>
            <a:br>
              <a:rPr lang="en-US"/>
            </a:br>
            <a:r>
              <a:rPr lang="en-US"/>
              <a:t>프로파일별 특성:</a:t>
            </a:r>
            <a:br>
              <a:rPr lang="en-US"/>
            </a:br>
            <a:r>
              <a:rPr lang="en-US"/>
              <a:t>- 상어(Shark): 대규모 재고, 높은 디지털 숙련도를 가진 기업형 셀러. Mean LTV R$4,951로 압도적 1위. A등급 비율 50%.</a:t>
            </a:r>
            <a:br>
              <a:rPr lang="en-US"/>
            </a:br>
            <a:r>
              <a:rPr lang="en-US"/>
              <a:t>- 독수리(Eagle): 특정 카테고리에 집중, 빠르게 성장하는 중형 셀러. Mean LTV R$1,796.</a:t>
            </a:r>
            <a:br>
              <a:rPr lang="en-US"/>
            </a:br>
            <a:r>
              <a:rPr lang="en-US"/>
              <a:t>- 고양이(Cat): 소규모 개인 셀러. 수는 많지만 LTV는 중위. 플랫폼 볼륨의 근간.</a:t>
            </a:r>
            <a:br>
              <a:rPr lang="en-US"/>
            </a:br>
            <a:r>
              <a:rPr lang="en-US"/>
              <a:t>- 늑대(Wolf): 박리다매 전략. LTV R$487로 최하위.</a:t>
            </a:r>
            <a:br>
              <a:rPr lang="en-US"/>
            </a:br>
            <a:br>
              <a:rPr lang="en-US"/>
            </a:br>
            <a:r>
              <a:rPr lang="en-US"/>
              <a:t>늑대(Wolf)가 낮은 이유:</a:t>
            </a:r>
            <a:br>
              <a:rPr lang="en-US"/>
            </a:br>
            <a:r>
              <a:rPr lang="en-US"/>
              <a:t>- 박리다매 전략은 주문량이 충분해야 작동하지만 중앙값 주문 3건에 불과</a:t>
            </a:r>
            <a:br>
              <a:rPr lang="en-US"/>
            </a:br>
            <a:r>
              <a:rPr lang="en-US"/>
              <a:t>- 낮은 단가 + 낮은 주문수 = 구조적으로 낮은 LTV</a:t>
            </a:r>
            <a:br>
              <a:rPr lang="en-US"/>
            </a:br>
            <a:r>
              <a:rPr lang="en-US"/>
              <a:t>- 이는 데이터 오류가 아닌 사업 모델의 근본적 한계</a:t>
            </a:r>
            <a:br>
              <a:rPr lang="en-US"/>
            </a:br>
            <a:br>
              <a:rPr lang="en-US"/>
            </a:br>
            <a:r>
              <a:rPr lang="en-US"/>
              <a:t>복합값(shark, cat 등) 16건은 첫 번째 프로파일 기준으로 분류했습니다.</a:t>
            </a:r>
            <a:endParaRPr/>
          </a:p>
        </p:txBody>
      </p:sp>
      <p:sp>
        <p:nvSpPr>
          <p:cNvPr id="639" name="Google Shape;63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[Revenue — 채널×프로파일 교차 &amp; 투자 매트릭스]</a:t>
            </a:r>
            <a:br>
              <a:rPr lang="en-US"/>
            </a:br>
            <a:r>
              <a:rPr lang="en-US"/>
              <a:t>왼쪽 히트맵: 채널 × 프로파일별 A등급 전환수</a:t>
            </a:r>
            <a:br>
              <a:rPr lang="en-US"/>
            </a:br>
            <a:r>
              <a:rPr lang="en-US"/>
              <a:t>- Cat이 모든 채널에서 수량 최다 (소규모 셀러 다수)</a:t>
            </a:r>
            <a:br>
              <a:rPr lang="en-US"/>
            </a:br>
            <a:r>
              <a:rPr lang="en-US"/>
              <a:t>- Shark는 수 적지만 LTV 압도 → organic, paid, unknown에서 발굴</a:t>
            </a:r>
            <a:br>
              <a:rPr lang="en-US"/>
            </a:br>
            <a:r>
              <a:rPr lang="en-US"/>
              <a:t>- Golden Path: organic_search × 상어 = 광고비 0원 + 최고 LTV 조합</a:t>
            </a:r>
            <a:br>
              <a:rPr lang="en-US"/>
            </a:br>
            <a:br>
              <a:rPr lang="en-US"/>
            </a:br>
            <a:r>
              <a:rPr lang="en-US"/>
              <a:t>오른쪽: Reseller vs Manufacturer 투자 매트릭스</a:t>
            </a:r>
            <a:br>
              <a:rPr lang="en-US"/>
            </a:br>
            <a:r>
              <a:rPr lang="en-US"/>
              <a:t>- Reseller: 활성화율 48.9% + Median LTV R$590 → 이중 우위</a:t>
            </a:r>
            <a:br>
              <a:rPr lang="en-US"/>
            </a:br>
            <a:r>
              <a:rPr lang="en-US"/>
              <a:t>- Manufacturer: 37.2% + R$404 → 이중 열위</a:t>
            </a:r>
            <a:br>
              <a:rPr lang="en-US"/>
            </a:br>
            <a:br>
              <a:rPr lang="en-US"/>
            </a:br>
            <a:r>
              <a:rPr lang="en-US"/>
              <a:t>예산 전략:</a:t>
            </a:r>
            <a:br>
              <a:rPr lang="en-US"/>
            </a:br>
            <a:r>
              <a:rPr lang="en-US"/>
              <a:t>1. organic + paid 이중 집중 투자 (상어 셀러 발굴)</a:t>
            </a:r>
            <a:br>
              <a:rPr lang="en-US"/>
            </a:br>
            <a:r>
              <a:rPr lang="en-US"/>
              <a:t>2. referral 프로그램 확대 (A등급 비율 55.6%)</a:t>
            </a:r>
            <a:br>
              <a:rPr lang="en-US"/>
            </a:br>
            <a:r>
              <a:rPr lang="en-US"/>
              <a:t>3. social 세그먼트 정밀화 먼저, 예산 확대는 그 다음</a:t>
            </a:r>
            <a:endParaRPr/>
          </a:p>
        </p:txBody>
      </p:sp>
      <p:sp>
        <p:nvSpPr>
          <p:cNvPr id="665" name="Google Shape;66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[Revenue — 14일 골든타임]</a:t>
            </a:r>
            <a:br>
              <a:rPr lang="en-US"/>
            </a:br>
            <a:r>
              <a:rPr lang="en-US"/>
              <a:t>분석 전체에서 가장 강력한 단일 발견입니다.</a:t>
            </a:r>
            <a:br>
              <a:rPr lang="en-US"/>
            </a:br>
            <a:br>
              <a:rPr lang="en-US"/>
            </a:br>
            <a:r>
              <a:rPr lang="en-US"/>
              <a:t>핵심 수치:</a:t>
            </a:r>
            <a:br>
              <a:rPr lang="en-US"/>
            </a:br>
            <a:r>
              <a:rPr lang="en-US"/>
              <a:t>- 14일 이내 첫 판매: 평균 LTV R$7,845</a:t>
            </a:r>
            <a:br>
              <a:rPr lang="en-US"/>
            </a:br>
            <a:r>
              <a:rPr lang="en-US"/>
              <a:t>- 91일 이상: 평균 LTV R$693 → 11.3배 차이</a:t>
            </a:r>
            <a:br>
              <a:rPr lang="en-US"/>
            </a:br>
            <a:br>
              <a:rPr lang="en-US"/>
            </a:br>
            <a:r>
              <a:rPr lang="en-US"/>
              <a:t>왜 이 차이가 발생하는가:</a:t>
            </a:r>
            <a:br>
              <a:rPr lang="en-US"/>
            </a:br>
            <a:r>
              <a:rPr lang="en-US"/>
              <a:t>빠른 첫 판매 → 성공 경험 → 추가 상품 등록 → 판매 지속</a:t>
            </a:r>
            <a:br>
              <a:rPr lang="en-US"/>
            </a:br>
            <a:r>
              <a:rPr lang="en-US"/>
              <a:t>느린 첫 판매 → 실패 경험 → 이탈 또는 소극적 운영</a:t>
            </a:r>
            <a:br>
              <a:rPr lang="en-US"/>
            </a:br>
            <a:r>
              <a:rPr lang="en-US"/>
              <a:t>즉, 첫 판매 경험이 셀러의 플랫폼 몰입도를 결정합니다.</a:t>
            </a:r>
            <a:br>
              <a:rPr lang="en-US"/>
            </a:br>
            <a:br>
              <a:rPr lang="en-US"/>
            </a:br>
            <a:r>
              <a:rPr lang="en-US"/>
              <a:t>실무 적용:</a:t>
            </a:r>
            <a:br>
              <a:rPr lang="en-US"/>
            </a:br>
            <a:r>
              <a:rPr lang="en-US"/>
              <a:t>- 온보딩 팀 KPI: 계약 건수 → 14일 내 첫 판매 달성률로 변경</a:t>
            </a:r>
            <a:br>
              <a:rPr lang="en-US"/>
            </a:br>
            <a:r>
              <a:rPr lang="en-US"/>
              <a:t>- 계약 직후 72시간 내 상품 등록 지원</a:t>
            </a:r>
            <a:br>
              <a:rPr lang="en-US"/>
            </a:br>
            <a:r>
              <a:rPr lang="en-US"/>
              <a:t>- 7일차, 14일차 자동 알림 시스템</a:t>
            </a:r>
            <a:br>
              <a:rPr lang="en-US"/>
            </a:br>
            <a:r>
              <a:rPr lang="en-US"/>
              <a:t>- Manufacturer는 45일 별도 목표 설정</a:t>
            </a:r>
            <a:endParaRPr/>
          </a:p>
        </p:txBody>
      </p:sp>
      <p:sp>
        <p:nvSpPr>
          <p:cNvPr id="683" name="Google Shape;68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[Referral — 리뷰 &amp; 배송]</a:t>
            </a:r>
            <a:br>
              <a:rPr lang="en-US"/>
            </a:br>
            <a:r>
              <a:rPr lang="en-US"/>
              <a:t>Referral 파트는 olist_order_reviews, olist_orders 등 별도 테이블 데이터를 사용합니다.</a:t>
            </a:r>
            <a:br>
              <a:rPr lang="en-US"/>
            </a:br>
            <a:br>
              <a:rPr lang="en-US"/>
            </a:br>
            <a:r>
              <a:rPr lang="en-US"/>
              <a:t>왼쪽 산점도: 리뷰 점수 vs 누적 GMV</a:t>
            </a:r>
            <a:br>
              <a:rPr lang="en-US"/>
            </a:br>
            <a:r>
              <a:rPr lang="en-US"/>
              <a:t>- 평점 4.0 기점으로 GMV 상단 밴드 급확장</a:t>
            </a:r>
            <a:br>
              <a:rPr lang="en-US"/>
            </a:br>
            <a:r>
              <a:rPr lang="en-US"/>
              <a:t>- 평점 4.0 이상 셀러의 GMV가 구조적으로 높음</a:t>
            </a:r>
            <a:br>
              <a:rPr lang="en-US"/>
            </a:br>
            <a:br>
              <a:rPr lang="en-US"/>
            </a:br>
            <a:r>
              <a:rPr lang="en-US"/>
              <a:t>오른쪽 곡선: 배송 소요일별 부정 리뷰 발생 확률</a:t>
            </a:r>
            <a:br>
              <a:rPr lang="en-US"/>
            </a:br>
            <a:r>
              <a:rPr lang="en-US"/>
              <a:t>- 12일까지: 부정 리뷰 10% 수준으로 안정</a:t>
            </a:r>
            <a:br>
              <a:rPr lang="en-US"/>
            </a:br>
            <a:r>
              <a:rPr lang="en-US"/>
              <a:t>- 12일 초과부터 급등 → 30일 50%, 50일 80%</a:t>
            </a:r>
            <a:br>
              <a:rPr lang="en-US"/>
            </a:br>
            <a:r>
              <a:rPr lang="en-US"/>
              <a:t>- 12일이 명확한 임계점</a:t>
            </a:r>
            <a:br>
              <a:rPr lang="en-US"/>
            </a:br>
            <a:br>
              <a:rPr lang="en-US"/>
            </a:br>
            <a:r>
              <a:rPr lang="en-US"/>
              <a:t>실무 액션:</a:t>
            </a:r>
            <a:br>
              <a:rPr lang="en-US"/>
            </a:br>
            <a:r>
              <a:rPr lang="en-US"/>
              <a:t>1. 배송 10일차에 셀러 자동 알림 발송</a:t>
            </a:r>
            <a:br>
              <a:rPr lang="en-US"/>
            </a:br>
            <a:r>
              <a:rPr lang="en-US"/>
              <a:t>2. 평점 4.0 미만 셀러 → 수수료 할인 등 품질 개선 인센티브</a:t>
            </a:r>
            <a:br>
              <a:rPr lang="en-US"/>
            </a:br>
            <a:r>
              <a:rPr lang="en-US"/>
              <a:t>3. 배송 지연 패턴 셀러 → Olist Fulfillment 서비스 권유</a:t>
            </a:r>
            <a:endParaRPr/>
          </a:p>
        </p:txBody>
      </p:sp>
      <p:sp>
        <p:nvSpPr>
          <p:cNvPr id="743" name="Google Shape;74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[Referral — 채널별 만족도 &amp; NLP]</a:t>
            </a:r>
            <a:br>
              <a:rPr lang="en-US"/>
            </a:br>
            <a:r>
              <a:rPr lang="en-US"/>
              <a:t>왼쪽 상단: 채널별 5점 리뷰 비율</a:t>
            </a:r>
            <a:br>
              <a:rPr lang="en-US"/>
            </a:br>
            <a:r>
              <a:rPr lang="en-US"/>
              <a:t>- organic 67.3%, paid 65.5% 상위 → Acquisition 효율 높은 채널이 만족도도 높음</a:t>
            </a:r>
            <a:br>
              <a:rPr lang="en-US"/>
            </a:br>
            <a:r>
              <a:rPr lang="en-US"/>
              <a:t>- unknown 59.1% 최하위</a:t>
            </a:r>
            <a:br>
              <a:rPr lang="en-US"/>
            </a:br>
            <a:br>
              <a:rPr lang="en-US"/>
            </a:br>
            <a:r>
              <a:rPr lang="en-US"/>
              <a:t>왼쪽 하단: Referral Index</a:t>
            </a:r>
            <a:br>
              <a:rPr lang="en-US"/>
            </a:br>
            <a:r>
              <a:rPr lang="en-US"/>
              <a:t>- organic &gt; paid &gt; direct &gt; social &gt; unknown 순</a:t>
            </a:r>
            <a:br>
              <a:rPr lang="en-US"/>
            </a:br>
            <a:br>
              <a:rPr lang="en-US"/>
            </a:br>
            <a:r>
              <a:rPr lang="en-US"/>
              <a:t>오른쪽 상단: NLP 키워드</a:t>
            </a:r>
            <a:br>
              <a:rPr lang="en-US"/>
            </a:br>
            <a:r>
              <a:rPr lang="en-US"/>
              <a:t>- 긍정: bom(좋음), recomendo(추천), excelente(훌륭함)</a:t>
            </a:r>
            <a:br>
              <a:rPr lang="en-US"/>
            </a:br>
            <a:r>
              <a:rPr lang="en-US"/>
              <a:t>- 부정: demora(지연), ruim(나쁨), atraso(지연) → 배송 관련이 압도적</a:t>
            </a:r>
            <a:br>
              <a:rPr lang="en-US"/>
            </a:br>
            <a:br>
              <a:rPr lang="en-US"/>
            </a:br>
            <a:r>
              <a:rPr lang="en-US"/>
              <a:t>오른쪽 하단: 배송 지연 키워드 비율 vs 매출</a:t>
            </a:r>
            <a:br>
              <a:rPr lang="en-US"/>
            </a:br>
            <a:r>
              <a:rPr lang="en-US"/>
              <a:t>- 지연 키워드 비율 높을수록 매출 낮음 (명확한 음의 상관)</a:t>
            </a:r>
            <a:br>
              <a:rPr lang="en-US"/>
            </a:br>
            <a:br>
              <a:rPr lang="en-US"/>
            </a:br>
            <a:r>
              <a:rPr lang="en-US"/>
              <a:t>자동화 제안: demora 키워드 비율 10% 초과 셀러에게 자동으로 운영팀 개입하는 Red Flag 시스템 구축</a:t>
            </a:r>
            <a:endParaRPr/>
          </a:p>
        </p:txBody>
      </p:sp>
      <p:sp>
        <p:nvSpPr>
          <p:cNvPr id="761" name="Google Shape;76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7" name="Google Shape;77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[Referral — 우량 셀러 vs 일반 셀러]</a:t>
            </a:r>
            <a:br>
              <a:rPr lang="en-US"/>
            </a:br>
            <a:r>
              <a:rPr lang="en-US"/>
              <a:t>박스플롯 해석:</a:t>
            </a:r>
            <a:br>
              <a:rPr lang="en-US"/>
            </a:br>
            <a:r>
              <a:rPr lang="en-US"/>
              <a:t>- 우량 셀러(Top 20%): 평균 평점 높고 Q1 방어율 뛰어나 편차 적음 → 일관된 품질 유지</a:t>
            </a:r>
            <a:br>
              <a:rPr lang="en-US"/>
            </a:br>
            <a:r>
              <a:rPr lang="en-US"/>
              <a:t>- 일반 셀러: 평균 평점 비슷하지만 하위 편차 크고 1점대까지 분포</a:t>
            </a:r>
            <a:br>
              <a:rPr lang="en-US"/>
            </a:br>
            <a:br>
              <a:rPr lang="en-US"/>
            </a:br>
            <a:r>
              <a:rPr lang="en-US"/>
              <a:t>핵심: 매출이 높은 셀러는 평점 관리도 잘 한다.</a:t>
            </a:r>
            <a:br>
              <a:rPr lang="en-US"/>
            </a:br>
            <a:r>
              <a:rPr lang="en-US"/>
              <a:t>공통 원인(셀러 역량)의 결과 → 잘 하는 셀러는 상품·배송·CS 모두 잘 합니다.</a:t>
            </a:r>
            <a:br>
              <a:rPr lang="en-US"/>
            </a:br>
            <a:br>
              <a:rPr lang="en-US"/>
            </a:br>
            <a:r>
              <a:rPr lang="en-US"/>
              <a:t>카테고리 위험군: 가구, 대형 가전에서 구조적으로 낮은 평점 군집화</a:t>
            </a:r>
            <a:br>
              <a:rPr lang="en-US"/>
            </a:br>
            <a:r>
              <a:rPr lang="en-US"/>
              <a:t>→ 해당 카테고리 신규 셀러: Olist Fulfillment 의무화 또는 물류 역량 사전 심사</a:t>
            </a:r>
            <a:br>
              <a:rPr lang="en-US"/>
            </a:br>
            <a:br>
              <a:rPr lang="en-US"/>
            </a:br>
            <a:r>
              <a:rPr lang="en-US"/>
              <a:t>Referral Index 순위: organic &gt; paid &gt; direct &gt; social &gt; unknown</a:t>
            </a:r>
            <a:br>
              <a:rPr lang="en-US"/>
            </a:br>
            <a:r>
              <a:rPr lang="en-US"/>
              <a:t>예산: unknown, social 일부 → organic, paid 인바운드 채널 강화</a:t>
            </a:r>
            <a:endParaRPr/>
          </a:p>
        </p:txBody>
      </p:sp>
      <p:sp>
        <p:nvSpPr>
          <p:cNvPr id="778" name="Google Shape;77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[Cross-AARRR 종합 전략]</a:t>
            </a:r>
            <a:br>
              <a:rPr lang="en-US"/>
            </a:br>
            <a:r>
              <a:rPr lang="en-US"/>
              <a:t>5개 파트가 수렴하는 3가지 핵심 전략입니다.</a:t>
            </a:r>
            <a:br>
              <a:rPr lang="en-US"/>
            </a:br>
            <a:br>
              <a:rPr lang="en-US"/>
            </a:br>
            <a:r>
              <a:rPr lang="en-US"/>
              <a:t>전략 01 — 14일 골든타임 온보딩:</a:t>
            </a:r>
            <a:br>
              <a:rPr lang="en-US"/>
            </a:br>
            <a:r>
              <a:rPr lang="en-US"/>
              <a:t>Sales Cycle(Acquisition) → 활성화율(Retention) → LTV(Revenue) 모두 속도와 연결. 온보딩 KPI를 계약 건수 → 14일 내 첫 판매 달성률로 전환하는 것이 가장 큰 레버리지.</a:t>
            </a:r>
            <a:br>
              <a:rPr lang="en-US"/>
            </a:br>
            <a:br>
              <a:rPr lang="en-US"/>
            </a:br>
            <a:r>
              <a:rPr lang="en-US"/>
              <a:t>전략 02 — 상어 + Reseller 우선 배정:</a:t>
            </a:r>
            <a:br>
              <a:rPr lang="en-US"/>
            </a:br>
            <a:r>
              <a:rPr lang="en-US"/>
              <a:t>LTV 1위 프로파일(Shark) + 활성화율 1위 사업형태(Reseller) 조합. 이 조합 리드 발생 시 최상위 SDR 즉각 투입.</a:t>
            </a:r>
            <a:br>
              <a:rPr lang="en-US"/>
            </a:br>
            <a:br>
              <a:rPr lang="en-US"/>
            </a:br>
            <a:r>
              <a:rPr lang="en-US"/>
              <a:t>전략 03 — 채널별 예산 재배분:</a:t>
            </a:r>
            <a:br>
              <a:rPr lang="en-US"/>
            </a:br>
            <a:r>
              <a:rPr lang="en-US"/>
              <a:t>organic + paid 이중 집중 | referral 볼륨 확대 | social은 online_big 정밀화 | unknown은 UTM 정비 후 재분류</a:t>
            </a:r>
            <a:br>
              <a:rPr lang="en-US"/>
            </a:br>
            <a:br>
              <a:rPr lang="en-US"/>
            </a:br>
            <a:r>
              <a:rPr lang="en-US"/>
              <a:t>3전략 공통 핵심: 속도 빠른 Reseller·상어를 Organic/Paid로 유입해 14일 안에 첫 판매를 달성시키는 것</a:t>
            </a:r>
            <a:endParaRPr/>
          </a:p>
        </p:txBody>
      </p:sp>
      <p:sp>
        <p:nvSpPr>
          <p:cNvPr id="846" name="Google Shape;84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[파트별 핵심 발견 요약]</a:t>
            </a:r>
            <a:br>
              <a:rPr lang="en-US"/>
            </a:br>
            <a:r>
              <a:rPr lang="en-US"/>
              <a:t>5개 파트의 Top 1 발견:</a:t>
            </a:r>
            <a:br>
              <a:rPr lang="en-US"/>
            </a:br>
            <a:br>
              <a:rPr lang="en-US"/>
            </a:br>
            <a:r>
              <a:rPr lang="en-US"/>
              <a:t>Acquisition: 랜딩페이지 최적화가 채널 선택보다 중요. 같은 paid_search에서 CVR 8배, 매출 11배 차이.</a:t>
            </a:r>
            <a:br>
              <a:rPr lang="en-US"/>
            </a:br>
            <a:r>
              <a:rPr lang="en-US"/>
              <a:t>Activation: 유입 시기(언제 들어왔는가)가 채널보다 계약 전환율을 더 강하게 결정 (ML 중요도 67%).</a:t>
            </a:r>
            <a:br>
              <a:rPr lang="en-US"/>
            </a:br>
            <a:r>
              <a:rPr lang="en-US"/>
              <a:t>Retention: Sales Cycle 10일 vs 21일. 입점 속도가 생존을 예측하는 핵심 선행 지표.</a:t>
            </a:r>
            <a:br>
              <a:rPr lang="en-US"/>
            </a:br>
            <a:r>
              <a:rPr lang="en-US"/>
              <a:t>Revenue: 14일 골든타임. 첫 판매 속도가 LTV를 11.3배 결정.</a:t>
            </a:r>
            <a:br>
              <a:rPr lang="en-US"/>
            </a:br>
            <a:r>
              <a:rPr lang="en-US"/>
              <a:t>Referral: 배송 12일 초과가 임계점. demora(지연)가 부정 리뷰 1위 원인.</a:t>
            </a:r>
            <a:br>
              <a:rPr lang="en-US"/>
            </a:br>
            <a:br>
              <a:rPr lang="en-US"/>
            </a:br>
            <a:r>
              <a:rPr lang="en-US"/>
              <a:t>4가지 관통 키워드:</a:t>
            </a:r>
            <a:br>
              <a:rPr lang="en-US"/>
            </a:br>
            <a:r>
              <a:rPr lang="en-US"/>
              <a:t>속도 / 채널(Organic·Paid) / 형태(Reseller) / 온보딩(14일)</a:t>
            </a:r>
            <a:br>
              <a:rPr lang="en-US"/>
            </a:br>
            <a:r>
              <a:rPr lang="en-US"/>
              <a:t>이 4가지가 전체 퍼널을 결정합니다.</a:t>
            </a:r>
            <a:endParaRPr/>
          </a:p>
        </p:txBody>
      </p:sp>
      <p:sp>
        <p:nvSpPr>
          <p:cNvPr id="886" name="Google Shape;88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8" name="Google Shape;91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[통합 액션 플랜]</a:t>
            </a:r>
            <a:br>
              <a:rPr lang="en-US"/>
            </a:br>
            <a:r>
              <a:rPr lang="en-US"/>
              <a:t>단기(0~4주): 즉시 통제 가능하고 효과가 빠른 것들.</a:t>
            </a:r>
            <a:br>
              <a:rPr lang="en-US"/>
            </a:br>
            <a:r>
              <a:rPr lang="en-US"/>
              <a:t>- Paid 랜딩페이지 최적화: 예산 변경 없이 CVR 개선 가능</a:t>
            </a:r>
            <a:br>
              <a:rPr lang="en-US"/>
            </a:br>
            <a:r>
              <a:rPr lang="en-US"/>
              <a:t>- Social 타겟 정밀화: 낭비 예산 즉시 회수</a:t>
            </a:r>
            <a:br>
              <a:rPr lang="en-US"/>
            </a:br>
            <a:r>
              <a:rPr lang="en-US"/>
              <a:t>- UTM 오류 점검: 데이터 정확도 기반 확보</a:t>
            </a:r>
            <a:br>
              <a:rPr lang="en-US"/>
            </a:br>
            <a:r>
              <a:rPr lang="en-US"/>
              <a:t>- 7일 내 리드 즉시 투입: 활성화율 개선</a:t>
            </a:r>
            <a:br>
              <a:rPr lang="en-US"/>
            </a:br>
            <a:r>
              <a:rPr lang="en-US"/>
              <a:t>- 배송 알림: 부정 리뷰 선제 차단</a:t>
            </a:r>
            <a:br>
              <a:rPr lang="en-US"/>
            </a:br>
            <a:br>
              <a:rPr lang="en-US"/>
            </a:br>
            <a:r>
              <a:rPr lang="en-US"/>
              <a:t>중기(1~3개월): 프로세스와 기준을 바꾸는 작업.</a:t>
            </a:r>
            <a:br>
              <a:rPr lang="en-US"/>
            </a:br>
            <a:r>
              <a:rPr lang="en-US"/>
              <a:t>- Organic SEO: 효과 2~4개월 소요, 지금 시작 필요</a:t>
            </a:r>
            <a:br>
              <a:rPr lang="en-US"/>
            </a:br>
            <a:r>
              <a:rPr lang="en-US"/>
              <a:t>- KPI 전환: 계약 건수 → 14일 내 첫 판매 달성률 (가장 큰 조직 변화)</a:t>
            </a:r>
            <a:br>
              <a:rPr lang="en-US"/>
            </a:br>
            <a:r>
              <a:rPr lang="en-US"/>
              <a:t>- Manufacturer 온보딩: 45일 별도 트랙, 중간 KPI 관리</a:t>
            </a:r>
            <a:br>
              <a:rPr lang="en-US"/>
            </a:br>
            <a:r>
              <a:rPr lang="en-US"/>
              <a:t>- Shark+Reseller 배정 체계: SDR 로테이션 규칙 수립</a:t>
            </a:r>
            <a:br>
              <a:rPr lang="en-US"/>
            </a:br>
            <a:r>
              <a:rPr lang="en-US"/>
              <a:t>- 평점 인센티브: 재무 모델링 선행 필요</a:t>
            </a:r>
            <a:br>
              <a:rPr lang="en-US"/>
            </a:br>
            <a:br>
              <a:rPr lang="en-US"/>
            </a:br>
            <a:r>
              <a:rPr lang="en-US"/>
              <a:t>장기(3개월+): 구조적 변화.</a:t>
            </a:r>
            <a:br>
              <a:rPr lang="en-US"/>
            </a:br>
            <a:r>
              <a:rPr lang="en-US"/>
              <a:t>- Direct 브랜드 캠페인: 예산 계획 + 오프라인 이벤트</a:t>
            </a:r>
            <a:br>
              <a:rPr lang="en-US"/>
            </a:br>
            <a:r>
              <a:rPr lang="en-US"/>
              <a:t>- ML 모델: 설문 설계 → 데이터 수집 → 재학습</a:t>
            </a:r>
            <a:br>
              <a:rPr lang="en-US"/>
            </a:br>
            <a:r>
              <a:rPr lang="en-US"/>
              <a:t>- Fulfillment 의무화: 물류 파트너 협의</a:t>
            </a:r>
            <a:br>
              <a:rPr lang="en-US"/>
            </a:br>
            <a:r>
              <a:rPr lang="en-US"/>
              <a:t>- Referral 프로그램: 인센티브 설계 + 법무 검토</a:t>
            </a:r>
            <a:br>
              <a:rPr lang="en-US"/>
            </a:br>
            <a:r>
              <a:rPr lang="en-US"/>
              <a:t>- UTM 재분류: 시스템 정비 후 과거 데이터 소급 적용</a:t>
            </a:r>
            <a:endParaRPr/>
          </a:p>
        </p:txBody>
      </p:sp>
      <p:sp>
        <p:nvSpPr>
          <p:cNvPr id="919" name="Google Shape;91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4" name="Google Shape;994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[분석 한계 &amp; Q&amp;A]</a:t>
            </a:r>
            <a:br>
              <a:rPr lang="en-US"/>
            </a:br>
            <a:r>
              <a:rPr lang="en-US"/>
              <a:t>분석의 한계를 솔직하게 인정하는 것이 신뢰도를 높입니다.</a:t>
            </a:r>
            <a:br>
              <a:rPr lang="en-US"/>
            </a:br>
            <a:br>
              <a:rPr lang="en-US"/>
            </a:br>
            <a:r>
              <a:rPr lang="en-US"/>
              <a:t>1. 비용 데이터 부재:</a:t>
            </a:r>
            <a:br>
              <a:rPr lang="en-US"/>
            </a:br>
            <a:r>
              <a:rPr lang="en-US"/>
              <a:t>채널별 광고비, 영업팀 인건비 데이터가 없습니다. 따라서 진짜 ROI(투자 대비 수익률)를 산출할 수 없고, MQL당 매출로 대리 측정했습니다. 비용 데이터가 확보되면 채널 우선순위가 달라질 수 있습니다.</a:t>
            </a:r>
            <a:br>
              <a:rPr lang="en-US"/>
            </a:br>
            <a:br>
              <a:rPr lang="en-US"/>
            </a:br>
            <a:r>
              <a:rPr lang="en-US"/>
              <a:t>2. Unknown 채널 정체:</a:t>
            </a:r>
            <a:br>
              <a:rPr lang="en-US"/>
            </a:br>
            <a:r>
              <a:rPr lang="en-US"/>
              <a:t>UTM 누락 결함 가설이 가장 설득력 있지만, 확정을 위해서는 서버 로그의 HTTP Referrer 분석이 선행되어야 합니다. 현재 데이터만으로는 완전한 결론 불가.</a:t>
            </a:r>
            <a:br>
              <a:rPr lang="en-US"/>
            </a:br>
            <a:br>
              <a:rPr lang="en-US"/>
            </a:br>
            <a:r>
              <a:rPr lang="en-US"/>
              <a:t>3. ML 모델 한계:</a:t>
            </a:r>
            <a:br>
              <a:rPr lang="en-US"/>
            </a:br>
            <a:r>
              <a:rPr lang="en-US"/>
              <a:t>AUC 0.714로 준수하지만, 셀러의 온라인 경험·사업 규모 등 핵심 속성이 계약 후에야 수집됩니다. 사전 예측에 구조적 한계가 있으며, 계약 전 간단한 설문 도입으로 개선 가능합니다.</a:t>
            </a:r>
            <a:br>
              <a:rPr lang="en-US"/>
            </a:br>
            <a:br>
              <a:rPr lang="en-US"/>
            </a:br>
            <a:r>
              <a:rPr lang="en-US"/>
              <a:t>4. 2017년 표본 부족:</a:t>
            </a:r>
            <a:br>
              <a:rPr lang="en-US"/>
            </a:br>
            <a:r>
              <a:rPr lang="en-US"/>
              <a:t>2017년 코호트는 표본이 매우 작아(4~937명) 일부 분석의 신뢰도가 제한적입니다. 특히 2017Q2(4명)는 통계적 의미가 없습니다.</a:t>
            </a:r>
            <a:br>
              <a:rPr lang="en-US"/>
            </a:br>
            <a:br>
              <a:rPr lang="en-US"/>
            </a:br>
            <a:r>
              <a:rPr lang="en-US"/>
              <a:t>Q&amp;A 시간입니다. 어떤 파트든 더 깊이 논의하고 싶은 내용이 있으시면 말씀해주세요.</a:t>
            </a:r>
            <a:endParaRPr/>
          </a:p>
        </p:txBody>
      </p:sp>
      <p:sp>
        <p:nvSpPr>
          <p:cNvPr id="995" name="Google Shape;995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Relationship Id="rId4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Relationship Id="rId4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jpg"/><Relationship Id="rId4" Type="http://schemas.openxmlformats.org/officeDocument/2006/relationships/image" Target="../media/image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jpg"/><Relationship Id="rId4" Type="http://schemas.openxmlformats.org/officeDocument/2006/relationships/image" Target="../media/image1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jpg"/><Relationship Id="rId4" Type="http://schemas.openxmlformats.org/officeDocument/2006/relationships/image" Target="../media/image25.jpg"/><Relationship Id="rId5" Type="http://schemas.openxmlformats.org/officeDocument/2006/relationships/image" Target="../media/image21.jpg"/><Relationship Id="rId6" Type="http://schemas.openxmlformats.org/officeDocument/2006/relationships/image" Target="../media/image24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B3D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FB3D3"/>
                </a:solidFill>
                <a:latin typeface="Calibri"/>
                <a:ea typeface="Calibri"/>
                <a:cs typeface="Calibri"/>
                <a:sym typeface="Calibri"/>
              </a:rPr>
              <a:t>AARRR FRAMEWORK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50876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Olist B2B 셀러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AARRR 분석 보고서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"누구를, 어떻게 데려와야 오래, 많이 파는가"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4206240"/>
            <a:ext cx="1508760" cy="32004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3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420624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139696" y="4206240"/>
            <a:ext cx="1508760" cy="320040"/>
          </a:xfrm>
          <a:prstGeom prst="rect">
            <a:avLst/>
          </a:prstGeom>
          <a:solidFill>
            <a:srgbClr val="2A3A5A"/>
          </a:solidFill>
          <a:ln cap="flat" cmpd="sng" w="12700">
            <a:solidFill>
              <a:srgbClr val="3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139696" y="420624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822192" y="4206240"/>
            <a:ext cx="1508760" cy="320040"/>
          </a:xfrm>
          <a:prstGeom prst="rect">
            <a:avLst/>
          </a:prstGeom>
          <a:solidFill>
            <a:srgbClr val="2A3A5A"/>
          </a:solidFill>
          <a:ln cap="flat" cmpd="sng" w="12700">
            <a:solidFill>
              <a:srgbClr val="3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822192" y="420624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504688" y="4206240"/>
            <a:ext cx="1508760" cy="320040"/>
          </a:xfrm>
          <a:prstGeom prst="rect">
            <a:avLst/>
          </a:prstGeom>
          <a:solidFill>
            <a:srgbClr val="2A3A5A"/>
          </a:solidFill>
          <a:ln cap="flat" cmpd="sng" w="12700">
            <a:solidFill>
              <a:srgbClr val="3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504688" y="420624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187184" y="4206240"/>
            <a:ext cx="1508760" cy="320040"/>
          </a:xfrm>
          <a:prstGeom prst="rect">
            <a:avLst/>
          </a:prstGeom>
          <a:solidFill>
            <a:srgbClr val="2A3A5A"/>
          </a:solidFill>
          <a:ln cap="flat" cmpd="sng" w="12700">
            <a:solidFill>
              <a:srgbClr val="3A5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187184" y="420624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2026.04 | Olist Business Analysis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분석 데이터셋 소개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Olist 공개 데이터셋 2개 테이블을 mql_id 기준으로 통합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4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4"/>
          <p:cNvSpPr/>
          <p:nvPr/>
        </p:nvSpPr>
        <p:spPr>
          <a:xfrm>
            <a:off x="411480" y="1572768"/>
            <a:ext cx="8321040" cy="420624"/>
          </a:xfrm>
          <a:prstGeom prst="rect">
            <a:avLst/>
          </a:prstGeom>
          <a:solidFill>
            <a:srgbClr val="F0F4F8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48640" y="1591056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Olist는 브라질 최대 B2B 이커머스 중개 플랫폼으로, 셀러가 Olist를 통해 여러 마켓플레이스에 동시 입점할 수 있다. 본 분석에 사용된 데이터는 Kaggle에 공개된 오픈 데이터셋으로, 2016~2018년 셀러 유입·계약·매출 기록을 포함한다.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11480" y="2084832"/>
            <a:ext cx="3383280" cy="91440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11480" y="2084832"/>
            <a:ext cx="3383280" cy="29260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02920" y="20848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marketing_qualified_leads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" y="239572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8,000행  ·  4개 컬럼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mql_id  /  first_contact_date  /  landing_page_id  /  origin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983480" y="2084832"/>
            <a:ext cx="3383280" cy="914400"/>
          </a:xfrm>
          <a:prstGeom prst="rect">
            <a:avLst/>
          </a:prstGeom>
          <a:solidFill>
            <a:srgbClr val="EAF7EF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983480" y="2084832"/>
            <a:ext cx="3383280" cy="292608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074920" y="20848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closed_deals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074920" y="2395728"/>
            <a:ext cx="3200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842행  ·  15개 컬럼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seller_id  /  won_date  /  lead_type  /  business_type  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3794760" y="2542032"/>
            <a:ext cx="1188720" cy="0"/>
          </a:xfrm>
          <a:prstGeom prst="straightConnector1">
            <a:avLst/>
          </a:prstGeom>
          <a:noFill/>
          <a:ln cap="flat" cmpd="sng" w="152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3749040" y="2331720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LEFT JOIN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on mql_id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46320" y="244144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4"/>
          <p:cNvCxnSpPr/>
          <p:nvPr/>
        </p:nvCxnSpPr>
        <p:spPr>
          <a:xfrm>
            <a:off x="4526280" y="2999232"/>
            <a:ext cx="0" cy="219456"/>
          </a:xfrm>
          <a:prstGeom prst="straightConnector1">
            <a:avLst/>
          </a:prstGeom>
          <a:noFill/>
          <a:ln cap="flat" cmpd="sng" w="15225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4"/>
          <p:cNvSpPr/>
          <p:nvPr/>
        </p:nvSpPr>
        <p:spPr>
          <a:xfrm>
            <a:off x="4297680" y="318211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468880" y="3355848"/>
            <a:ext cx="4206240" cy="475488"/>
          </a:xfrm>
          <a:prstGeom prst="rect">
            <a:avLst/>
          </a:prstGeom>
          <a:solidFill>
            <a:srgbClr val="F5EEF8"/>
          </a:solidFill>
          <a:ln cap="flat" cmpd="sng" w="1905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06040" y="3355848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marketing_sales_base  ·  8,000행  ·  22개 컬럼  ·  이탈자 포함 전체 MQL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11480" y="3931920"/>
            <a:ext cx="8321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AARRR 파트별 주요 사용 컬럼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4"/>
          <p:cNvCxnSpPr/>
          <p:nvPr/>
        </p:nvCxnSpPr>
        <p:spPr>
          <a:xfrm>
            <a:off x="411480" y="4151376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4"/>
          <p:cNvSpPr/>
          <p:nvPr/>
        </p:nvSpPr>
        <p:spPr>
          <a:xfrm>
            <a:off x="411480" y="4206240"/>
            <a:ext cx="1965960" cy="822960"/>
          </a:xfrm>
          <a:prstGeom prst="rect">
            <a:avLst/>
          </a:prstGeom>
          <a:solidFill>
            <a:srgbClr val="EBF5FB"/>
          </a:solidFill>
          <a:ln cap="flat" cmpd="sng" w="101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11480" y="4206240"/>
            <a:ext cx="1965960" cy="457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02920" y="4233672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02920" y="4443984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origin · landing_page_id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first_contact_date · is_won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514600" y="4206240"/>
            <a:ext cx="1965960" cy="822960"/>
          </a:xfrm>
          <a:prstGeom prst="rect">
            <a:avLst/>
          </a:prstGeom>
          <a:solidFill>
            <a:srgbClr val="EAF7EF"/>
          </a:solidFill>
          <a:ln cap="flat" cmpd="sng" w="1015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514600" y="4206240"/>
            <a:ext cx="1965960" cy="45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2606040" y="4233672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606040" y="4443984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is_won · lead_type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business_segment · won_date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617720" y="4206240"/>
            <a:ext cx="1965960" cy="822960"/>
          </a:xfrm>
          <a:prstGeom prst="rect">
            <a:avLst/>
          </a:prstGeom>
          <a:solidFill>
            <a:srgbClr val="F5EEF8"/>
          </a:solidFill>
          <a:ln cap="flat" cmpd="sng" w="1015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617720" y="4206240"/>
            <a:ext cx="1965960" cy="4572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709160" y="4233672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709160" y="4443984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first_sale_date · won_date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business_type · has_revenue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720840" y="4206240"/>
            <a:ext cx="1965960" cy="822960"/>
          </a:xfrm>
          <a:prstGeom prst="rect">
            <a:avLst/>
          </a:prstGeom>
          <a:solidFill>
            <a:srgbClr val="FEF9E7"/>
          </a:solidFill>
          <a:ln cap="flat" cmpd="sng" w="1015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720840" y="4206240"/>
            <a:ext cx="1965960" cy="45720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812280" y="4233672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5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7950B"/>
                </a:solidFill>
                <a:latin typeface="Calibri"/>
                <a:ea typeface="Calibri"/>
                <a:cs typeface="Calibri"/>
                <a:sym typeface="Calibri"/>
              </a:rPr>
              <a:t>Referral / 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812280" y="4443984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total_revenue · total_order_count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lead_behaviour_profile · first_sale_date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주요 컬럼 의미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각 컬럼이 분석에서 갖는 실질적 의미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5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6" name="Google Shape;86;p5"/>
          <p:cNvGraphicFramePr/>
          <p:nvPr/>
        </p:nvGraphicFramePr>
        <p:xfrm>
          <a:off x="411480" y="15361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{FF805391-5B08-48BD-8AA7-55B8B8C6D457}</a:tableStyleId>
              </a:tblPr>
              <a:tblGrid>
                <a:gridCol w="1645925"/>
                <a:gridCol w="1737350"/>
                <a:gridCol w="3749050"/>
                <a:gridCol w="118872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컬럼명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원본 값 예시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분석에서의 의미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사용 파트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origin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paid_search / organic / social / direct_traffic / unknown 외 5개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셀러가 처음 Olist를 접한 유입 채널. 실제로는 10개 값이 존재하나 분석은 표본 충분한 5개 채널 중심으로 진행. CVR·활성화율·LTV 비교의 출발점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F72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B4F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Acquisition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landing_page_id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22c29808, b76ef374 등 해시값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유입 시 노출된 랜딩페이지 ID. 같은 paid_search 채널 내에서도 페이지에 따라 CVR이 3%~24%로 8배 차이 발생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F72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B4F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Acquisition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is_won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(이탈) / 1 (계약)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MQL의 계약 전환 여부. 전체 8,000명 중 842명(10.5%)만 1. 이탈률 89.5%가 이 컬럼 하나로 설명됨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Activation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won_date − first_contact_date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7일 / 21일 / 174일 등 (파생 변수)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 Cycle Days. 활성 셀러 중앙값 10일 vs 휴면 셀러 21일 (p&lt;0.0001). 입점 결정 속도가 계약 후 매출 발생률의 핵심 선행 지표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4F72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B4F7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Acquisition · Retention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lead_type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online_big / online_medium / offline / industry 등 8개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셀러의 규모·운영 방식 분류. online_big 활성화율 63% vs offline 29%. business_segment·lead_type 모두 계약자(842명)에만 값 존재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Activation · Retention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business_type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reseller / manufacturer / other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셀러의 사업 형태. Reseller는 완성품 보유로 즉시 판매 가능(활성화율 48.9%), Manufacturer는 제조 공정으로 안착 지연(37.2%)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7D3C9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Retention · Revenue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first_sale_date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2018-02-03 등 (has_revenue=0이면 결측)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첫 판매 발생일. won_date와의 차이로 온보딩 속도를 측정. 14일 이내 달성 셀러 평균 LTV R$7,845 vs 91일+ R$693 — 11.3배 차이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D3C98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7D3C9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Retention · Revenue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lead_behaviour_profile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shark / eagle / cat / wolf (복합 분류 16건 존재)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영업팀이 부여한 셀러 행동 유형. Shark(기업형 대량 판매) Mean LTV R$4,951로 Wolf(R$487) 대비 10배. 복합값(예: shark, cat)은 소수 존재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950B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B795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total_revenue / total_order_count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 ~ 113,629 R$ / 0 ~ 수백 건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셀러의 누적 GMV와 총 주문 건수. LTV 분석의 직접 기반. is_won=1이어도 0이면 계약 후 미판매(휴면) 셀러로 분류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950B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B795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onsolas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※ Referral 파트 전용 데이터</a:t>
                      </a:r>
                      <a:endParaRPr sz="8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88888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8888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review_score, delivery_days 등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85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Referral 파트(리뷰·배송·NLP 분석)는 이 CSV가 아닌 별도 Olist 테이블(olist_order_reviews, olist_orders 등)을 추가 조인하여 분석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-US" sz="850" u="none" cap="none" strike="noStrike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Referral</a:t>
                      </a:r>
                      <a:endParaRPr sz="8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8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분석 프레임워크: AARRR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각 단계는 독립된 분석이 아닌 하나의 퍼널로 연결된다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/>
          <p:nvPr/>
        </p:nvSpPr>
        <p:spPr>
          <a:xfrm>
            <a:off x="365760" y="1600200"/>
            <a:ext cx="15544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365760" y="1600200"/>
            <a:ext cx="1554480" cy="54864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38912" y="2377440"/>
            <a:ext cx="14081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38912" y="2788920"/>
            <a:ext cx="14081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어떤 채널이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어떤 셀러를 데려오는가?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6"/>
          <p:cNvCxnSpPr/>
          <p:nvPr/>
        </p:nvCxnSpPr>
        <p:spPr>
          <a:xfrm>
            <a:off x="548640" y="3657600"/>
            <a:ext cx="11887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6"/>
          <p:cNvSpPr/>
          <p:nvPr/>
        </p:nvSpPr>
        <p:spPr>
          <a:xfrm>
            <a:off x="438912" y="3749040"/>
            <a:ext cx="14081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핵심 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38912" y="3977640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MQL · CVR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1920240" y="3108960"/>
            <a:ext cx="137160" cy="0"/>
          </a:xfrm>
          <a:prstGeom prst="straightConnector1">
            <a:avLst/>
          </a:prstGeom>
          <a:noFill/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6"/>
          <p:cNvSpPr/>
          <p:nvPr/>
        </p:nvSpPr>
        <p:spPr>
          <a:xfrm>
            <a:off x="2057400" y="1600200"/>
            <a:ext cx="15544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2057400" y="1600200"/>
            <a:ext cx="1554480" cy="54864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2606040" y="1828800"/>
            <a:ext cx="457200" cy="457200"/>
          </a:xfrm>
          <a:prstGeom prst="ellipse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260604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2130552" y="2377440"/>
            <a:ext cx="14081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130552" y="2788920"/>
            <a:ext cx="14081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유입 리드가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계약으로 전환되는가?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6"/>
          <p:cNvCxnSpPr/>
          <p:nvPr/>
        </p:nvCxnSpPr>
        <p:spPr>
          <a:xfrm>
            <a:off x="2240280" y="3657600"/>
            <a:ext cx="11887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6"/>
          <p:cNvSpPr/>
          <p:nvPr/>
        </p:nvSpPr>
        <p:spPr>
          <a:xfrm>
            <a:off x="2130552" y="3749040"/>
            <a:ext cx="14081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핵심 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130552" y="3977640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계약 전환율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>
            <a:off x="3611880" y="3108960"/>
            <a:ext cx="137160" cy="0"/>
          </a:xfrm>
          <a:prstGeom prst="straightConnector1">
            <a:avLst/>
          </a:prstGeom>
          <a:noFill/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6"/>
          <p:cNvSpPr/>
          <p:nvPr/>
        </p:nvSpPr>
        <p:spPr>
          <a:xfrm>
            <a:off x="3749040" y="1600200"/>
            <a:ext cx="15544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3749040" y="1600200"/>
            <a:ext cx="1554480" cy="54864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297680" y="1828800"/>
            <a:ext cx="457200" cy="457200"/>
          </a:xfrm>
          <a:prstGeom prst="ellipse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29768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822192" y="2377440"/>
            <a:ext cx="14081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822192" y="2788920"/>
            <a:ext cx="14081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계약 셀러가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실제로 판매를 시작하는가?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3931920" y="3657600"/>
            <a:ext cx="11887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6"/>
          <p:cNvSpPr/>
          <p:nvPr/>
        </p:nvSpPr>
        <p:spPr>
          <a:xfrm>
            <a:off x="3822192" y="3749040"/>
            <a:ext cx="14081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핵심 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822192" y="3977640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활성화율 · Sales Cycle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6"/>
          <p:cNvCxnSpPr/>
          <p:nvPr/>
        </p:nvCxnSpPr>
        <p:spPr>
          <a:xfrm>
            <a:off x="5303520" y="3108960"/>
            <a:ext cx="137160" cy="0"/>
          </a:xfrm>
          <a:prstGeom prst="straightConnector1">
            <a:avLst/>
          </a:prstGeom>
          <a:noFill/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6"/>
          <p:cNvSpPr/>
          <p:nvPr/>
        </p:nvSpPr>
        <p:spPr>
          <a:xfrm>
            <a:off x="5440680" y="1600200"/>
            <a:ext cx="15544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5440680" y="1600200"/>
            <a:ext cx="1554480" cy="54864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5989320" y="1828800"/>
            <a:ext cx="457200" cy="457200"/>
          </a:xfrm>
          <a:prstGeom prst="ellipse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98932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513832" y="2377440"/>
            <a:ext cx="14081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513832" y="2788920"/>
            <a:ext cx="14081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셀러가 플랫폼에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기여하는 매출은?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6"/>
          <p:cNvCxnSpPr/>
          <p:nvPr/>
        </p:nvCxnSpPr>
        <p:spPr>
          <a:xfrm>
            <a:off x="5623560" y="3657600"/>
            <a:ext cx="11887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6"/>
          <p:cNvSpPr/>
          <p:nvPr/>
        </p:nvSpPr>
        <p:spPr>
          <a:xfrm>
            <a:off x="5513832" y="3749040"/>
            <a:ext cx="14081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핵심 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513832" y="3977640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795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7950B"/>
                </a:solidFill>
                <a:latin typeface="Calibri"/>
                <a:ea typeface="Calibri"/>
                <a:cs typeface="Calibri"/>
                <a:sym typeface="Calibri"/>
              </a:rPr>
              <a:t>GMV · LTV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6"/>
          <p:cNvCxnSpPr/>
          <p:nvPr/>
        </p:nvCxnSpPr>
        <p:spPr>
          <a:xfrm>
            <a:off x="6995160" y="3108960"/>
            <a:ext cx="137160" cy="0"/>
          </a:xfrm>
          <a:prstGeom prst="straightConnector1">
            <a:avLst/>
          </a:prstGeom>
          <a:noFill/>
          <a:ln cap="flat" cmpd="sng" w="12700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6"/>
          <p:cNvSpPr/>
          <p:nvPr/>
        </p:nvSpPr>
        <p:spPr>
          <a:xfrm>
            <a:off x="7132320" y="1600200"/>
            <a:ext cx="15544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7132320" y="1600200"/>
            <a:ext cx="1554480" cy="54864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680960" y="1828800"/>
            <a:ext cx="457200" cy="4572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768096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205472" y="2377440"/>
            <a:ext cx="140817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205472" y="2788920"/>
            <a:ext cx="140817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플랫폼 평판을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높이는가?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7315200" y="3657600"/>
            <a:ext cx="118872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6"/>
          <p:cNvSpPr/>
          <p:nvPr/>
        </p:nvSpPr>
        <p:spPr>
          <a:xfrm>
            <a:off x="7205472" y="3749040"/>
            <a:ext cx="14081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핵심 지표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205472" y="3977640"/>
            <a:ext cx="1408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리뷰 점수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65760" y="4617720"/>
            <a:ext cx="54864" cy="34747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02920" y="4690872"/>
            <a:ext cx="82113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Acquisition(유입) → Activation(계약 전환) → Retention(실제 판매 시작) → Revenue(매출) → Referral(평판). 각 단계는 앞 단계의 품질을 이어받는다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943600" y="274320"/>
            <a:ext cx="274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1E2B"/>
              </a:buClr>
              <a:buSzPts val="22000"/>
              <a:buFont typeface="Calibri"/>
              <a:buNone/>
            </a:pPr>
            <a:r>
              <a:rPr b="1" i="0" lang="en-US" sz="22000" u="none" cap="none" strike="noStrike">
                <a:solidFill>
                  <a:srgbClr val="141E2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AARRR — 1/5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57200" y="123444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7"/>
          <p:cNvCxnSpPr/>
          <p:nvPr/>
        </p:nvCxnSpPr>
        <p:spPr>
          <a:xfrm>
            <a:off x="457200" y="2331720"/>
            <a:ext cx="5029200" cy="0"/>
          </a:xfrm>
          <a:prstGeom prst="straightConnector1">
            <a:avLst/>
          </a:prstGeom>
          <a:noFill/>
          <a:ln cap="flat" cmpd="sng" w="254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7"/>
          <p:cNvSpPr/>
          <p:nvPr/>
        </p:nvSpPr>
        <p:spPr>
          <a:xfrm>
            <a:off x="457200" y="251460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어떤 채널이, 어떤 셀러를 데려오는가?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30632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5개 채널 × MQL 볼륨 × 계약 전환율(CVR) × 채널 특성 분석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채널별 계약 전환율 분석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5개 채널은 모두 다른 셀러를 데려오는 다른 입구다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8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72" name="Google Shape;172;p8"/>
          <p:cNvGraphicFramePr/>
          <p:nvPr/>
        </p:nvGraphicFramePr>
        <p:xfrm>
          <a:off x="4114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{FF805391-5B08-48BD-8AA7-55B8B8C6D457}</a:tableStyleId>
              </a:tblPr>
              <a:tblGrid>
                <a:gridCol w="1188725"/>
                <a:gridCol w="777250"/>
                <a:gridCol w="594350"/>
                <a:gridCol w="777250"/>
                <a:gridCol w="777250"/>
                <a:gridCol w="4206250"/>
              </a:tblGrid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채널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 (통계)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매출 비중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채널 특성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paid_search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1,586명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12.3%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2.76 🥈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22.9%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즉시 통제 가능. 랜딩페이지에 따라 CVR 8배 차이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organic_search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2,296명 🥇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11.8%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2.69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30.6% 🥇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광고비 0원. CVR 안정적. SEO 장기 자산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direct_traffic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499명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11.2%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오프라인 사업자 직접 유입. 브랜드 인지도의 증거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1,350명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5.6% 🔴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online_big 계약 후 판매 달성율 75% vs offline 12%. 타겟 양극화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unknown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1,159명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16.7%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31.8%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UTM 추적 결함 (b76ef374 랜딩페이지)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" name="Google Shape;173;p8"/>
          <p:cNvSpPr/>
          <p:nvPr/>
        </p:nvSpPr>
        <p:spPr>
          <a:xfrm>
            <a:off x="411480" y="470916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11480" y="470916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548640" y="478231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핵심: CVR이 높다고 좋은 채널이 아니다. 채널별로 데려오는 셀러의 유형이 다르고, 이후 Retention(판매 달성)까지 이어지는 품질도 다르다.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411480" y="5047488"/>
            <a:ext cx="8321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※ 표본 100명 미만 채널(referral 284명, display 118명, email 493명, other 등) 제외. 전체 채널 10개 중 주요 5개 기준.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| Ch.1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Paid Search — 랜딩페이지가 답인 광고 엔진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즉시 통제 가능한 유료 광고 채널. 단, 랜딩페이지 품질에 따라 효율이 극단적으로 달라짐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9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9"/>
          <p:cNvSpPr/>
          <p:nvPr/>
        </p:nvSpPr>
        <p:spPr>
          <a:xfrm>
            <a:off x="411480" y="1600200"/>
            <a:ext cx="1572768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411480" y="1600200"/>
            <a:ext cx="1572768" cy="457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548640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1,586명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02920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MQL 볼륨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02920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전체 2위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2075688" y="1600200"/>
            <a:ext cx="1572768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2075688" y="1600200"/>
            <a:ext cx="1572768" cy="4572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2212848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6C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86C1"/>
                </a:solidFill>
                <a:latin typeface="Calibri"/>
                <a:ea typeface="Calibri"/>
                <a:cs typeface="Calibri"/>
                <a:sym typeface="Calibri"/>
              </a:rPr>
              <a:t>12.3%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2167128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CVR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2167128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CI: 10.8~14.0%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3739896" y="1600200"/>
            <a:ext cx="1572768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3739896" y="1600200"/>
            <a:ext cx="1572768" cy="45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3877056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2.759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831336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831336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p&lt;0.001 통계적 유의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404104" y="1600200"/>
            <a:ext cx="1572768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404104" y="1600200"/>
            <a:ext cx="1572768" cy="457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5541264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R$98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95544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MQL당 매출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495544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Unknown 제외 1위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068312" y="1600200"/>
            <a:ext cx="1572768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7068312" y="1600200"/>
            <a:ext cx="1572768" cy="45720"/>
          </a:xfrm>
          <a:prstGeom prst="rect">
            <a:avLst/>
          </a:prstGeom>
          <a:solidFill>
            <a:srgbClr val="154360"/>
          </a:solidFill>
          <a:ln cap="flat" cmpd="sng" w="12700">
            <a:solidFill>
              <a:srgbClr val="1543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7205472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54360"/>
                </a:solidFill>
                <a:latin typeface="Calibri"/>
                <a:ea typeface="Calibri"/>
                <a:cs typeface="Calibri"/>
                <a:sym typeface="Calibri"/>
              </a:rPr>
              <a:t>22.9%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159752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매출 비중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159752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R$155K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11480" y="3246120"/>
            <a:ext cx="2926080" cy="32004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0A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11480" y="32461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📈 BCG 분류: ⭐ STAR (대볼륨 + 고효율)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11480" y="3703320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셀러 구성: online_medium 40% · reseller 69% · 주요 업종 health_beauty 13%, home_decor 10%, car_accessories 10%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11480" y="420624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411480" y="420624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548640" y="427939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 2.759 (p&lt;0.001) — 통계적으로 견고한 채널. MCDA 종합 점수 1위(85.2점). 단, CVR은 랜딩페이지에 따라 8배 차이 → 랜딩페이지 최적화가 선결 과제.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MCDA 점수: 85.2점 (1위) | 골든 조합: paid_search × online_big × reseller (상세는 Retention 파트에서)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| Ch.1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랜딩페이지 효율 격차 — 같은 광고비, 8배 다른 결과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랜딩페이지 최적화가 채널 선택보다 중요하다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0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0"/>
          <p:cNvSpPr/>
          <p:nvPr/>
        </p:nvSpPr>
        <p:spPr>
          <a:xfrm>
            <a:off x="411480" y="1600200"/>
            <a:ext cx="8321040" cy="914400"/>
          </a:xfrm>
          <a:prstGeom prst="rect">
            <a:avLst/>
          </a:prstGeom>
          <a:solidFill>
            <a:srgbClr val="FEF9E7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548640" y="1664208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CVR 격차 </a:t>
            </a:r>
            <a:r>
              <a:rPr b="1" i="0" lang="en-US" sz="2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8배</a:t>
            </a: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(3.0% ~ 23.8%)   |   활성 셀러 평균매출 격차 </a:t>
            </a:r>
            <a:r>
              <a:rPr b="1" i="0" lang="en-US" sz="2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약 20배+</a:t>
            </a: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 (R$218 ~ R$4,215, n≥5 기준)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10"/>
          <p:cNvGraphicFramePr/>
          <p:nvPr/>
        </p:nvGraphicFramePr>
        <p:xfrm>
          <a:off x="411480" y="2651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{FF805391-5B08-48BD-8AA7-55B8B8C6D457}</a:tableStyleId>
              </a:tblPr>
              <a:tblGrid>
                <a:gridCol w="685800"/>
                <a:gridCol w="1371600"/>
                <a:gridCol w="640075"/>
                <a:gridCol w="777250"/>
                <a:gridCol w="777250"/>
                <a:gridCol w="1097275"/>
                <a:gridCol w="29718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순위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랜딩페이지 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활성화율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평균 매출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평가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🥇 1위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fbc24da5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23.8%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60.0%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R$364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CVR 1위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🥈 2위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22c29808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16.1%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R$4,215 💎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매출 1위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🥉 3위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40dec9f3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241명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20.7%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54.0%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R$1,196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균형형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14위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E74C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65d9f9d7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7.8% 🔴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비효율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🔴 17위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00"/>
                        <a:buFont typeface="Consolas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74C3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3cd2a830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3.0% 🔴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폐기 1순위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2" name="Google Shape;232;p10"/>
          <p:cNvSpPr/>
          <p:nvPr/>
        </p:nvSpPr>
        <p:spPr>
          <a:xfrm>
            <a:off x="411480" y="466344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411480" y="466344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548640" y="473659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액션: 22c29808 트래픽 비중 확대 | 3cd2a830, 65d9f9d7 즉시 개선 또는 폐기 (단, 표본 작아 추가 검증 권장)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| Ch.2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Organic Search — 광고비 0원의 매출 1위 자산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SEO 투자가 장기 자산 | BCG: CASH COW (대볼륨 + 비용 0원)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1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1"/>
          <p:cNvSpPr/>
          <p:nvPr/>
        </p:nvSpPr>
        <p:spPr>
          <a:xfrm>
            <a:off x="411480" y="1600200"/>
            <a:ext cx="15727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11480" y="1600200"/>
            <a:ext cx="1572768" cy="45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548640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2,296명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02920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MQL 볼륨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02920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전체 1위 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2075688" y="1600200"/>
            <a:ext cx="15727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2075688" y="1600200"/>
            <a:ext cx="1572768" cy="45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2212848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30.6%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2167128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매출 비중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2167128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R$207K — 절대 1위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3739896" y="1600200"/>
            <a:ext cx="15727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3739896" y="1600200"/>
            <a:ext cx="1572768" cy="457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3877056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11.8%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3831336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CVR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3831336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OR 2.689 (p&lt;0.001)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404104" y="1600200"/>
            <a:ext cx="15727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5404104" y="1600200"/>
            <a:ext cx="1572768" cy="457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5541264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R$1,832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495544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평균 매출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495544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활성 셀러 기준 (paid R$1,537 대비 19%↑)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7068312" y="1600200"/>
            <a:ext cx="15727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7068312" y="1600200"/>
            <a:ext cx="1572768" cy="45720"/>
          </a:xfrm>
          <a:prstGeom prst="rect">
            <a:avLst/>
          </a:prstGeom>
          <a:solidFill>
            <a:srgbClr val="154360"/>
          </a:solidFill>
          <a:ln cap="flat" cmpd="sng" w="12700">
            <a:solidFill>
              <a:srgbClr val="1543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7205472" y="1783080"/>
            <a:ext cx="129844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436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54360"/>
                </a:solidFill>
                <a:latin typeface="Calibri"/>
                <a:ea typeface="Calibri"/>
                <a:cs typeface="Calibri"/>
                <a:sym typeface="Calibri"/>
              </a:rPr>
              <a:t>최저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7159752" y="242316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변동성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7159752" y="2697480"/>
            <a:ext cx="1389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시기별 CVR 표준편차 1.7%p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ppt_images/3_organic_vs_paid_industry.png" id="270" name="Google Shape;27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090672"/>
            <a:ext cx="8321040" cy="157276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1"/>
          <p:cNvSpPr/>
          <p:nvPr/>
        </p:nvSpPr>
        <p:spPr>
          <a:xfrm>
            <a:off x="411480" y="4718304"/>
            <a:ext cx="8321040" cy="29260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411480" y="4718304"/>
            <a:ext cx="54864" cy="29260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548640" y="4791456"/>
            <a:ext cx="811987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home_decor·pet·car_accessories → Organic 압도 (검색 의도 강) | health_beauty·computers → Paid 우위 | 업종별 차별화 채널 전략 필요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| Ch.3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Direct Traffic — 오프라인 사업자의 디지털 진입로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URL 직접 입력. 모든 효율 지표 1위. 볼륨은 작지만 브랜드 인지도의 직접 증거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2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284" name="Google Shape;284;p12"/>
          <p:cNvGraphicFramePr/>
          <p:nvPr/>
        </p:nvGraphicFramePr>
        <p:xfrm>
          <a:off x="4114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{FF805391-5B08-48BD-8AA7-55B8B8C6D457}</a:tableStyleId>
              </a:tblPr>
              <a:tblGrid>
                <a:gridCol w="1463050"/>
                <a:gridCol w="1188725"/>
                <a:gridCol w="1005850"/>
                <a:gridCol w="914400"/>
                <a:gridCol w="91440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효율 지표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 🥇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organic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55555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5555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social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활성화율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55.4%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51.8%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41.7%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Cycle 중앙값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10일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15일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14일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30일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7일내 전환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41.1%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32.8%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31.4%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21.3%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12"/>
          <p:cNvSpPr/>
          <p:nvPr/>
        </p:nvSpPr>
        <p:spPr>
          <a:xfrm>
            <a:off x="6126480" y="1600200"/>
            <a:ext cx="2606040" cy="132588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6263640" y="169164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오프라인 비율 18%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263640" y="201168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다른 채널 5~10%의 2배.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household_utilities 업종 1위.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126480" y="3063240"/>
            <a:ext cx="2606040" cy="1005840"/>
          </a:xfrm>
          <a:prstGeom prst="rect">
            <a:avLst/>
          </a:prstGeom>
          <a:solidFill>
            <a:srgbClr val="EAF7EF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6263640" y="315468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2018년 MQL +283%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6263640" y="3474720"/>
            <a:ext cx="2331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브랜드 인지도 상승의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직접 증거.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411480" y="42519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매출 안정성: CV 1.63 (전체 채널 최저) — 예측 가능성 1위. BCG: QUESTION MARK (소볼륨 + 고효율)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11480" y="466344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11480" y="466344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548640" y="473659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Direct는 광고로 늘릴 수 없다. 브랜드 마케팅으로만 성장 가능. 오프라인 사업자 타겟 캠페인 + Referral 프로그램으로 볼륨 확대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| Ch.4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Social — 양극화된 외과 수술 대상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CVR 최하위 5.6%. 단, online_big 계약자의 계약 후 판매 달성율 75%로 세그먼트 간 양극화 극심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3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4_social_polarization.png" id="305" name="Google Shape;30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00200"/>
            <a:ext cx="5029200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3"/>
          <p:cNvSpPr/>
          <p:nvPr/>
        </p:nvSpPr>
        <p:spPr>
          <a:xfrm>
            <a:off x="5669280" y="1600200"/>
            <a:ext cx="3063240" cy="1188720"/>
          </a:xfrm>
          <a:prstGeom prst="rect">
            <a:avLst/>
          </a:prstGeom>
          <a:solidFill>
            <a:srgbClr val="EAF7EF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5806440" y="1691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🟢 online_big × Social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5806440" y="201168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계약 후 판매 달성율 75% — 계약자 중 online_big 세그먼트 기준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평균 매출 R$1,920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5669280" y="2926080"/>
            <a:ext cx="3063240" cy="1005840"/>
          </a:xfrm>
          <a:prstGeom prst="rect">
            <a:avLst/>
          </a:prstGeom>
          <a:solidFill>
            <a:srgbClr val="FDEDE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5806440" y="3017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🔴 offline × Social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5806440" y="33375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계약 후 판매 달성율 12% — 전체 최하위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즉시 타겟 제외 필요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11480" y="46360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⚠️ 2018-04: MQL +134%, CVR -56% — 잘못된 캠페인 확장 의심. 즉시 원인 점검 필요.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411480" y="4956048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411480" y="4956048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548640" y="5029200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액션: online_big/medium 핀포인트 타겟팅 | offline·industry 타겟 즉시 제외 | Social × pet = 평균매출 R$2,489 (업종별 1위)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4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| Ch.5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Unknown — 채널이 아닌 UTM 추적 결함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CVR/OR/매출 모두 1위이지만, 실체는 랜딩페이지 b76ef374의 시스템적 UTM 누락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14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14"/>
          <p:cNvSpPr/>
          <p:nvPr/>
        </p:nvSpPr>
        <p:spPr>
          <a:xfrm>
            <a:off x="411480" y="1600200"/>
            <a:ext cx="8321040" cy="685800"/>
          </a:xfrm>
          <a:prstGeom prst="rect">
            <a:avLst/>
          </a:prstGeom>
          <a:solidFill>
            <a:srgbClr val="FEF9E7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548640" y="1664208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핵심 발견: </a:t>
            </a: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Unknown 1,159명 중 656명(56.7%)</a:t>
            </a: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이 단일 랜딩페이지 b76ef374에 집중. 해당 페이지 unknown 비율 </a:t>
            </a:r>
            <a:r>
              <a:rPr b="1" i="0" lang="en-US" sz="13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71.9%</a:t>
            </a: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vs 다른 랜딩페이지 평균 </a:t>
            </a:r>
            <a:r>
              <a:rPr b="1" i="0" lang="en-US" sz="13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4.1%</a:t>
            </a:r>
            <a:r>
              <a:rPr b="0" i="0" lang="en-US" sz="13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(17배 차이)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411480" y="2423160"/>
            <a:ext cx="4069080" cy="2103120"/>
          </a:xfrm>
          <a:prstGeom prst="rect">
            <a:avLst/>
          </a:prstGeom>
          <a:solidFill>
            <a:srgbClr val="EAF7EF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548640" y="251460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✅ 확실히 말할 수 있는 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548640" y="2880360"/>
            <a:ext cx="37947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Unknown은 단일 그룹이 아닌 두 그룹의 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656명은 랜딩페이지 b76ef374 UTM 누락 결과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시간 패턴 차이는 채널이 아닌 랜딩페이지 특성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UTM 추적 시스템 전반 점검 필요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4663440" y="2423160"/>
            <a:ext cx="4069080" cy="2103120"/>
          </a:xfrm>
          <a:prstGeom prst="rect">
            <a:avLst/>
          </a:prstGeom>
          <a:solidFill>
            <a:srgbClr val="FDEDE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4800600" y="2514600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❌ 단정해선 안 되는 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800600" y="2880360"/>
            <a:ext cx="37947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"Unknown = paid_search" — 같은 LP에 organic이 더 많음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"Unknown = B2B 의도 강함" — LP 효과로 설명됨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Unknown 지표를 채널 성과로 해석하는 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• 단기 예산 배분 대상으로 설정하는 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411480" y="466344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411480" y="466344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/>
          <p:nvPr/>
        </p:nvSpPr>
        <p:spPr>
          <a:xfrm>
            <a:off x="548640" y="473659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액션: 즉시 — b76ef374 URL 구조 및 리다이렉트 분석 | 1~2주 — UTM 추적 시스템 전면 점검 | 단기 — 예산 동결, 현상 유지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| 종합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채널 종합 평가 — MCDA 가중치 모델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CVR · 계약 후 판매 달성율 · 매출효율 · 안정성 · 액션가능성 종합 점수 (Cross-AARRR 기준)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15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5_mcda_score.png" id="347" name="Google Shape;3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00200"/>
            <a:ext cx="484632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5"/>
          <p:cNvSpPr/>
          <p:nvPr/>
        </p:nvSpPr>
        <p:spPr>
          <a:xfrm>
            <a:off x="5486400" y="1664208"/>
            <a:ext cx="3246120" cy="502920"/>
          </a:xfrm>
          <a:prstGeom prst="rect">
            <a:avLst/>
          </a:prstGeom>
          <a:solidFill>
            <a:srgbClr val="EBF5FB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5577840" y="1709928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Paid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6400800" y="1709928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85.2점 🥇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5577840" y="192024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랜딩페이지에 좌우되는 광고 엔진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5486400" y="2231136"/>
            <a:ext cx="3246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5577840" y="227685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6400800" y="2276856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81.6점 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5577840" y="2487168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오프라인 사업자의 디지털 진입로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486400" y="2798064"/>
            <a:ext cx="3246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5577840" y="2843784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Unknown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6400800" y="2843784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77.8점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5577840" y="3054096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UTM 결함 (단기 액션 불가)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5486400" y="3364992"/>
            <a:ext cx="3246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5577840" y="341071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Organic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6400800" y="3410712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72.2점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5577840" y="3621024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광고비 0원의 매출 1위 자산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5486400" y="3931920"/>
            <a:ext cx="324612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5577840" y="39776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6400800" y="3977640"/>
            <a:ext cx="914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51.7점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5577840" y="4187952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양극화된 외과 수술 대상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11480" y="470916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411480" y="470916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548640" y="478231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종합 1위: paid_search (즉시 통제 가능 + 종합 성과 우수). Unknown 효율 지표는 1위이나 정체 불명으로 액션 불가.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6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 | 핵심 인사이트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Acquisition — 핵심 발견 요약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411480" y="1170432"/>
            <a:ext cx="8321040" cy="5029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548640" y="117043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채널이 아니라 랜딩페이지와 셀러 유형의 조합이 유입 성과를 결정한다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41148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411480" y="1783080"/>
            <a:ext cx="64008" cy="11887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57607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랜딩페이지 효율 격차 — 8배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57607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같은 paid_search 채널에서 랜딩페이지에 따라 CVR 3%~24%(8배), 매출 11배 차이. 22c29808이 매출 1위(R$4,215). 채널 선택보다 랜딩페이지 최적화가 선결 과제.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466344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6"/>
          <p:cNvSpPr/>
          <p:nvPr/>
        </p:nvSpPr>
        <p:spPr>
          <a:xfrm>
            <a:off x="4663440" y="1783080"/>
            <a:ext cx="64008" cy="11887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482803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Social — 감축이 아닌 외과 수술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482803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전체 CVR 5.6% 최하위지만 계약자 중 online_big 세그먼트의 계약 후 판매 달성율이 75%로 높음. offline 이탈률 94.4%. 타겟 정밀화(online_big 집중, offline 제거)가 정답.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41148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411480" y="3108960"/>
            <a:ext cx="64008" cy="11887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57607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Unknown — 채널이 아닌 UTM 결함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57607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CVR·OR 모두 1위지만 1,159명 중 656명이 단일 랜딩페이지(b76ef374) 집중. 해당 페이지 unknown 비율 71.9% vs 다른 페이지 4.1%(17배). 추적 시스템 결함.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466344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4663440" y="3108960"/>
            <a:ext cx="64008" cy="11887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482803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Organic — 광고비 0원의 매출 1위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82803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광고비 없이 전체 매출의 30.6% 차지. OR 2.69, 시기별 CVR 표준편차 1.7%p(전체 최저). home_decor·pet에서 Paid 대비 2배 이상 계약. SEO 장기 자산.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16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16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 다음 파트: Activation: 유입된 리드가 계약으로 전환되는 조건을 분석한다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7"/>
          <p:cNvSpPr/>
          <p:nvPr/>
        </p:nvSpPr>
        <p:spPr>
          <a:xfrm>
            <a:off x="5943600" y="274320"/>
            <a:ext cx="274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1E2B"/>
              </a:buClr>
              <a:buSzPts val="22000"/>
              <a:buFont typeface="Calibri"/>
              <a:buNone/>
            </a:pPr>
            <a:r>
              <a:rPr b="1" i="0" lang="en-US" sz="22000" u="none" cap="none" strike="noStrike">
                <a:solidFill>
                  <a:srgbClr val="141E2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7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AARRR — 2/5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457200" y="123444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17"/>
          <p:cNvCxnSpPr/>
          <p:nvPr/>
        </p:nvCxnSpPr>
        <p:spPr>
          <a:xfrm>
            <a:off x="457200" y="2331720"/>
            <a:ext cx="5029200" cy="0"/>
          </a:xfrm>
          <a:prstGeom prst="straightConnector1">
            <a:avLst/>
          </a:prstGeom>
          <a:noFill/>
          <a:ln cap="flat" cmpd="sng" w="254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7"/>
          <p:cNvSpPr/>
          <p:nvPr/>
        </p:nvSpPr>
        <p:spPr>
          <a:xfrm>
            <a:off x="457200" y="251460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유입된 리드가 실제 계약으로 전환되는가?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457200" y="30632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8,000명 유입 → 842명 계약(10.5%). 무엇이 전환을 결정하는가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계약 전환 분석 — 유입 리드의 10.5%만 계약한다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무엇이 계약 전환을 결정하는가? 채널 · 유입 시기 · 리드 유형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18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01_funnel.png" id="423" name="Google Shape;4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600200"/>
            <a:ext cx="5029200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8"/>
          <p:cNvSpPr/>
          <p:nvPr/>
        </p:nvSpPr>
        <p:spPr>
          <a:xfrm>
            <a:off x="5669280" y="1645920"/>
            <a:ext cx="320040" cy="320040"/>
          </a:xfrm>
          <a:prstGeom prst="ellipse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8"/>
          <p:cNvSpPr/>
          <p:nvPr/>
        </p:nvSpPr>
        <p:spPr>
          <a:xfrm>
            <a:off x="5669280" y="16459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6080760" y="166420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유입 시기(월)가 계약 전환율을 가장 강하게 결정 (ML 중요도 1위 27.3%)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5669280" y="2267712"/>
            <a:ext cx="320040" cy="320040"/>
          </a:xfrm>
          <a:prstGeom prst="ellipse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8"/>
          <p:cNvSpPr/>
          <p:nvPr/>
        </p:nvSpPr>
        <p:spPr>
          <a:xfrm>
            <a:off x="5669280" y="22677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6080760" y="228600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코호트별 계약 소요기간 37배 차이 (2017Q3 332일 vs 2018Q2 9일)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5669280" y="2889504"/>
            <a:ext cx="320040" cy="320040"/>
          </a:xfrm>
          <a:prstGeom prst="ellipse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5669280" y="288950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6080760" y="2907792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Social·Email 이탈률 94~97% — 계약 전 이탈이 집중되는 채널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5669280" y="3511296"/>
            <a:ext cx="320040" cy="320040"/>
          </a:xfrm>
          <a:prstGeom prst="ellipse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5669280" y="35112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6080760" y="3529584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채널 분포: 계약자는 unknown 21%, 이탈자는 social 19% 비율 높음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6" name="Google Shape;436;p18"/>
          <p:cNvGraphicFramePr/>
          <p:nvPr/>
        </p:nvGraphicFramePr>
        <p:xfrm>
          <a:off x="411480" y="3913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{FF805391-5B08-48BD-8AA7-55B8B8C6D457}</a:tableStyleId>
              </a:tblPr>
              <a:tblGrid>
                <a:gridCol w="2103125"/>
                <a:gridCol w="2103125"/>
                <a:gridCol w="2103125"/>
                <a:gridCol w="20116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MQL (총 유입)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계약 체결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이탈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예측 모델 AUC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F72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8,000명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8449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844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842명 (10.5%)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74C3C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74C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7,158명 (89.5%)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2D2D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D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0.714 (로지스틱 회귀)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0E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7" name="Google Shape;437;p18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411480" y="4617720"/>
            <a:ext cx="54864" cy="32004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548640" y="4690872"/>
            <a:ext cx="8119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Activation = 계약 전환 분석. 계약 이후 첫 판매 여부(활성화율·Sales Cycle)는 Retention 파트에서 다룬다.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9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9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채널별 전환율 &amp; 이탈자 분석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어떤 채널의 리드가 계약으로 전환되는가?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p19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02_channel_cvr.png" id="450" name="Google Shape;4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4114800" cy="2468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_images/08_churn_profile.png" id="451" name="Google Shape;4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572768"/>
            <a:ext cx="4069080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9"/>
          <p:cNvSpPr/>
          <p:nvPr/>
        </p:nvSpPr>
        <p:spPr>
          <a:xfrm>
            <a:off x="411480" y="411480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채널별 계약 전환율 (CVR)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4663440" y="411480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이탈자 7,158명 채널·시기 프로파일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411480" y="448056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411480" y="448056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548640" y="455371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Unknown CVR 16.7% 1위이나 UTM 추적 불명 | Social 이탈률 94.4%, Email 97.0% — 계약 전 이탈이 집중되는 채널. 예산 재배분 검토 필요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9"/>
          <p:cNvSpPr/>
          <p:nvPr/>
        </p:nvSpPr>
        <p:spPr>
          <a:xfrm>
            <a:off x="411480" y="486460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계약자 93%가 2018년 유입 | 이탈자 채널: organic 31%, paid 21%, social 20% 순 (볼륨이 크기 때문)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0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코호트 분석 &amp; ML 예측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유입 시기가 계약 전환율을 결정한다 — 같은 플랫폼, 37배 차이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20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cohort.png" id="468" name="Google Shape;4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5212080" cy="2651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_images/07_ml_model.png" id="469" name="Google Shape;4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1572768"/>
            <a:ext cx="2971801" cy="265176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0"/>
          <p:cNvSpPr/>
          <p:nvPr/>
        </p:nvSpPr>
        <p:spPr>
          <a:xfrm>
            <a:off x="411480" y="4315968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0"/>
          <p:cNvSpPr/>
          <p:nvPr/>
        </p:nvSpPr>
        <p:spPr>
          <a:xfrm>
            <a:off x="411480" y="4315968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548640" y="4389120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2017Q3: 전환율 1.9%, 계약 소요 332일 → 2018Q2: 전환율 11.8%, 9일. 영업 프로세스 성숙도 변화 가능성.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ML 모델 AUC 0.714 | 변수 중요도 1위: 유입 시기(월) 27.3% — 채널보다 "언제 들어왔는가"가 계약을 더 강하게 결정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411480" y="498348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한계: 셀러 속성 데이터는 계약 후에만 수집 → 사전 예측의 근본적 한계. ML 모델에 셀러 속성 변수 추가 시 예측력 강화 가능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1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1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 | 핵심 인사이트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Activation — 핵심 발견 요약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411480" y="1170432"/>
            <a:ext cx="8321040" cy="5029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1"/>
          <p:cNvSpPr/>
          <p:nvPr/>
        </p:nvSpPr>
        <p:spPr>
          <a:xfrm>
            <a:off x="548640" y="117043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언제 들어왔느냐가 채널보다 계약 전환을 더 강하게 결정한다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41148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1"/>
          <p:cNvSpPr/>
          <p:nvPr/>
        </p:nvSpPr>
        <p:spPr>
          <a:xfrm>
            <a:off x="411480" y="1783080"/>
            <a:ext cx="64008" cy="1188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1"/>
          <p:cNvSpPr/>
          <p:nvPr/>
        </p:nvSpPr>
        <p:spPr>
          <a:xfrm>
            <a:off x="57607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유입 시기 — ML 변수 중요도 1위(27.3%)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57607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코호트별 계약 전환율 0%→14%, 계약 소요기간 332일→9일(37배 차이). 같은 플랫폼인데 유입 시기에 따라 영업 환경이 극적으로 달랐다.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466344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1"/>
          <p:cNvSpPr/>
          <p:nvPr/>
        </p:nvSpPr>
        <p:spPr>
          <a:xfrm>
            <a:off x="4663440" y="1783080"/>
            <a:ext cx="64008" cy="1188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1"/>
          <p:cNvSpPr/>
          <p:nvPr/>
        </p:nvSpPr>
        <p:spPr>
          <a:xfrm>
            <a:off x="482803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Social·Email — 계약 전 이탈 집중 채널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482803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Social 이탈률 94.4%, Email 97.0%. 유입 볼륨은 있지만 계약으로 전환되지 않는 채널. 예산 효율 관점에서 재배분 검토 필요.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41148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1"/>
          <p:cNvSpPr/>
          <p:nvPr/>
        </p:nvSpPr>
        <p:spPr>
          <a:xfrm>
            <a:off x="411480" y="3108960"/>
            <a:ext cx="64008" cy="1188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1"/>
          <p:cNvSpPr/>
          <p:nvPr/>
        </p:nvSpPr>
        <p:spPr>
          <a:xfrm>
            <a:off x="57607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계약 전환 예측 모델 — AUC 0.714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57607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로지스틱 회귀 기준 AUC 0.714. 셀러 속성(사업 규모, 온라인 경험)이 계약 후에만 수집되는 구조적 한계. 계약 전 설문 도입 시 개선 가능.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466344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1"/>
          <p:cNvSpPr/>
          <p:nvPr/>
        </p:nvSpPr>
        <p:spPr>
          <a:xfrm>
            <a:off x="4663440" y="3108960"/>
            <a:ext cx="64008" cy="118872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1"/>
          <p:cNvSpPr/>
          <p:nvPr/>
        </p:nvSpPr>
        <p:spPr>
          <a:xfrm>
            <a:off x="482803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Unknown — 계약자 비중 21% vs 이탈자 13%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482803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Unknown 채널은 계약자 비중이 이탈자보다 높게 나타남. UTM 결함 임에도 계약 품질 자체는 나쁘지 않음 — 추적 시스템 정비 후 재평가 필요.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2" name="Google Shape;502;p21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p21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 다음 파트: Retention: 계약한 셀러가 실제로 첫 판매를 달성하는 조건을 분석한다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"/>
          <p:cNvSpPr/>
          <p:nvPr/>
        </p:nvSpPr>
        <p:spPr>
          <a:xfrm>
            <a:off x="5943600" y="274320"/>
            <a:ext cx="274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1E2B"/>
              </a:buClr>
              <a:buSzPts val="22000"/>
              <a:buFont typeface="Calibri"/>
              <a:buNone/>
            </a:pPr>
            <a:r>
              <a:rPr b="1" i="0" lang="en-US" sz="22000" u="none" cap="none" strike="noStrike">
                <a:solidFill>
                  <a:srgbClr val="141E2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AARRR — 3/5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457200" y="123444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4" name="Google Shape;514;p22"/>
          <p:cNvCxnSpPr/>
          <p:nvPr/>
        </p:nvCxnSpPr>
        <p:spPr>
          <a:xfrm>
            <a:off x="457200" y="2331720"/>
            <a:ext cx="5029200" cy="0"/>
          </a:xfrm>
          <a:prstGeom prst="straightConnector1">
            <a:avLst/>
          </a:prstGeom>
          <a:noFill/>
          <a:ln cap="flat" cmpd="sng" w="254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22"/>
          <p:cNvSpPr/>
          <p:nvPr/>
        </p:nvSpPr>
        <p:spPr>
          <a:xfrm>
            <a:off x="457200" y="251460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계약한 셀러가 실제로 판매를 시작하는가?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457200" y="30632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Sales Cycle · 활성화율 · 첫 판매 달성 — 계약 이후의 생존 조건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3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3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계약 후 첫 판매 달성 분석 — 활성화 조건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3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계약(is_won=1) 이후 실제 매출 발생까지. Sales Cycle이 핵심 선행 지표다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23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analysis1_sales_cycle.png" id="527" name="Google Shape;5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484632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3"/>
          <p:cNvSpPr/>
          <p:nvPr/>
        </p:nvSpPr>
        <p:spPr>
          <a:xfrm>
            <a:off x="5486400" y="1600200"/>
            <a:ext cx="3246120" cy="1188720"/>
          </a:xfrm>
          <a:prstGeom prst="rect">
            <a:avLst/>
          </a:prstGeom>
          <a:solidFill>
            <a:srgbClr val="EAF7EF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3"/>
          <p:cNvSpPr/>
          <p:nvPr/>
        </p:nvSpPr>
        <p:spPr>
          <a:xfrm>
            <a:off x="5623560" y="169164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활성 셀러 Sales 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5623560" y="2011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중앙값 10일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5486400" y="2926080"/>
            <a:ext cx="3246120" cy="1188720"/>
          </a:xfrm>
          <a:prstGeom prst="rect">
            <a:avLst/>
          </a:prstGeom>
          <a:solidFill>
            <a:srgbClr val="FDEDE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3"/>
          <p:cNvSpPr/>
          <p:nvPr/>
        </p:nvSpPr>
        <p:spPr>
          <a:xfrm>
            <a:off x="5623560" y="301752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휴면 셀러 Sales Cycle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5623560" y="333756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중앙값 21일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3"/>
          <p:cNvSpPr/>
          <p:nvPr/>
        </p:nvSpPr>
        <p:spPr>
          <a:xfrm>
            <a:off x="411480" y="4407408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3"/>
          <p:cNvSpPr/>
          <p:nvPr/>
        </p:nvSpPr>
        <p:spPr>
          <a:xfrm>
            <a:off x="411480" y="4407408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548640" y="4480560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Sales Cycle = 계약까지 걸린 시간. 빠르게 결정한 셀러(10일)가 느린 셀러(21일)보다 계약 후 첫 판매 달성률이 훨씬 높다. 준비된 셀러가 빠르게 결정한다.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411480" y="48006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활성화율(45.1%) = 계약자 중 실제 첫 판매를 달성한 비율. 변수 중요도: sales_cycle_days 1위 → origin → business_type 순.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4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4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4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채널·사업형태별 활성화율 — 누가 첫 판매를 달성하는가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계약 후 실제 판매 시작 비율(활성화율) = Retention의 핵심 지표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24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analysis2_active_rate.png" id="548" name="Google Shape;5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420624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_images/analysis3_business_type.png" id="549" name="Google Shape;5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572768"/>
            <a:ext cx="397764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4"/>
          <p:cNvSpPr/>
          <p:nvPr/>
        </p:nvSpPr>
        <p:spPr>
          <a:xfrm>
            <a:off x="411480" y="3977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direct_traffic 활성화율: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2697480" y="3977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55.4%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4"/>
          <p:cNvSpPr/>
          <p:nvPr/>
        </p:nvSpPr>
        <p:spPr>
          <a:xfrm>
            <a:off x="411480" y="4297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paid_search 활성화율: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4"/>
          <p:cNvSpPr/>
          <p:nvPr/>
        </p:nvSpPr>
        <p:spPr>
          <a:xfrm>
            <a:off x="2697480" y="4297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51.8%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4"/>
          <p:cNvSpPr/>
          <p:nvPr/>
        </p:nvSpPr>
        <p:spPr>
          <a:xfrm>
            <a:off x="411480" y="4617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전체 평균: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4"/>
          <p:cNvSpPr/>
          <p:nvPr/>
        </p:nvSpPr>
        <p:spPr>
          <a:xfrm>
            <a:off x="2697480" y="46177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45.1%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4572000" y="39776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Reseller 활성화율: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4"/>
          <p:cNvSpPr/>
          <p:nvPr/>
        </p:nvSpPr>
        <p:spPr>
          <a:xfrm>
            <a:off x="6858000" y="39776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48.9%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4"/>
          <p:cNvSpPr/>
          <p:nvPr/>
        </p:nvSpPr>
        <p:spPr>
          <a:xfrm>
            <a:off x="4572000" y="42976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Manufacturer 활성화율: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6858000" y="4297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37.2%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4"/>
          <p:cNvSpPr/>
          <p:nvPr/>
        </p:nvSpPr>
        <p:spPr>
          <a:xfrm>
            <a:off x="411480" y="470916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411480" y="470916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548640" y="478231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활성화율(계약 후 첫 판매 달성률): direct 55.4% &gt; paid 51.8% &gt; 평균 45.1% | Reseller 48.9% &gt; Manufacturer 37.2%. 채널과 사업형태가 Retention을 결정한다.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5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5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5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업종별 활성화율 &amp; 생존 변수 중요도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어떤 업종을 타겟해야 더 많은 활성 셀러를 확보할 수 있는가?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2" name="Google Shape;572;p25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analysis3_segments.png" id="573" name="Google Shape;57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4846320" cy="283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_images/analysis5_importance.png" id="574" name="Google Shape;57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4960" y="1572768"/>
            <a:ext cx="333756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5"/>
          <p:cNvSpPr/>
          <p:nvPr/>
        </p:nvSpPr>
        <p:spPr>
          <a:xfrm>
            <a:off x="411480" y="452628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5"/>
          <p:cNvSpPr/>
          <p:nvPr/>
        </p:nvSpPr>
        <p:spPr>
          <a:xfrm>
            <a:off x="411480" y="452628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"/>
          <p:cNvSpPr/>
          <p:nvPr/>
        </p:nvSpPr>
        <p:spPr>
          <a:xfrm>
            <a:off x="548640" y="459943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household_utilities 62%, pet 57% — 재고 회전 빠르고 표준화된 상품군이 활성화 유리 | 영업 타겟을 상위 업종으로 좁히면 동일 비용으로 더 많은 활성 셀러 확보 가능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411480" y="491032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온보딩 전략: 입점 결정 빠른 셀러 → 계약 직후 집중 온보딩 | Manufacturer → 45일+ 확장 온보딩 + 중간 KPI (상품 등록, SKU 확보) 관리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6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6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 | 핵심 인사이트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Retention — 핵심 발견 요약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411480" y="1170432"/>
            <a:ext cx="8321040" cy="50292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6"/>
          <p:cNvSpPr/>
          <p:nvPr/>
        </p:nvSpPr>
        <p:spPr>
          <a:xfrm>
            <a:off x="548640" y="117043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Sales Cycle이 짧은 셀러, Reseller, 특정 업종 — 이 조합이 활성화를 결정한다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41148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6"/>
          <p:cNvSpPr/>
          <p:nvPr/>
        </p:nvSpPr>
        <p:spPr>
          <a:xfrm>
            <a:off x="411480" y="1783080"/>
            <a:ext cx="64008" cy="118872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6"/>
          <p:cNvSpPr/>
          <p:nvPr/>
        </p:nvSpPr>
        <p:spPr>
          <a:xfrm>
            <a:off x="57607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Sales Cycle — 활성화의 핵심 선행 지표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6"/>
          <p:cNvSpPr/>
          <p:nvPr/>
        </p:nvSpPr>
        <p:spPr>
          <a:xfrm>
            <a:off x="57607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활성 셀러 중앙값 10일 vs 휴면 셀러 21일(Mann-Whitney U, p&lt;0.0001). ML 변수 중요도 1위(62%). 입점 결정이 빠른 셀러 = 이미 판매 준비가 된 셀러.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466344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6"/>
          <p:cNvSpPr/>
          <p:nvPr/>
        </p:nvSpPr>
        <p:spPr>
          <a:xfrm>
            <a:off x="4663440" y="1783080"/>
            <a:ext cx="64008" cy="118872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6"/>
          <p:cNvSpPr/>
          <p:nvPr/>
        </p:nvSpPr>
        <p:spPr>
          <a:xfrm>
            <a:off x="482803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Reseller vs Manufacturer — 11.7%p 차이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482803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Reseller 활성화율 48.9%, Manufacturer 37.2%. 완성품 보유 여부가 첫 판매 달성 속도를 결정. Manufacturer는 45일+ 확장 온보딩 트랙 필요.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41148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6"/>
          <p:cNvSpPr/>
          <p:nvPr/>
        </p:nvSpPr>
        <p:spPr>
          <a:xfrm>
            <a:off x="411480" y="3108960"/>
            <a:ext cx="64008" cy="118872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6"/>
          <p:cNvSpPr/>
          <p:nvPr/>
        </p:nvSpPr>
        <p:spPr>
          <a:xfrm>
            <a:off x="57607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업종별 활성화율 — 상위 vs 하위 2배 차이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57607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household_utilities 62%, pet 57% 상위. food_supplement 29% 최하위. 재고 회전이 빠르고 규격화된 상품군이 첫 판매 달성에 유리.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6"/>
          <p:cNvSpPr/>
          <p:nvPr/>
        </p:nvSpPr>
        <p:spPr>
          <a:xfrm>
            <a:off x="466344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6"/>
          <p:cNvSpPr/>
          <p:nvPr/>
        </p:nvSpPr>
        <p:spPr>
          <a:xfrm>
            <a:off x="4663440" y="3108960"/>
            <a:ext cx="64008" cy="118872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6"/>
          <p:cNvSpPr/>
          <p:nvPr/>
        </p:nvSpPr>
        <p:spPr>
          <a:xfrm>
            <a:off x="482803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D3C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D3C98"/>
                </a:solidFill>
                <a:latin typeface="Calibri"/>
                <a:ea typeface="Calibri"/>
                <a:cs typeface="Calibri"/>
                <a:sym typeface="Calibri"/>
              </a:rPr>
              <a:t>유입 채널도 활성화에 영향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6"/>
          <p:cNvSpPr/>
          <p:nvPr/>
        </p:nvSpPr>
        <p:spPr>
          <a:xfrm>
            <a:off x="482803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direct_traffic 활성화율 55.4%, paid_search 51.8%로 평균(45.1%) 상회. Acquisition에서 좋은 채널로 들어온 셀러가 Retention에서도 살아남는 패턴.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26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7" name="Google Shape;607;p26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 다음 파트: Referral: 활성화된 셀러의 판매 경험이 플랫폼 평판으로 이어지는 과정을 분석한다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5943600" y="274320"/>
            <a:ext cx="274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1E2B"/>
              </a:buClr>
              <a:buSzPts val="22000"/>
              <a:buFont typeface="Calibri"/>
              <a:buNone/>
            </a:pPr>
            <a:r>
              <a:rPr b="1" i="0" lang="en-US" sz="22000" u="none" cap="none" strike="noStrike">
                <a:solidFill>
                  <a:srgbClr val="141E2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AARRR — 5/5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457200" y="123444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27"/>
          <p:cNvCxnSpPr/>
          <p:nvPr/>
        </p:nvCxnSpPr>
        <p:spPr>
          <a:xfrm>
            <a:off x="457200" y="2331720"/>
            <a:ext cx="5029200" cy="0"/>
          </a:xfrm>
          <a:prstGeom prst="straightConnector1">
            <a:avLst/>
          </a:prstGeom>
          <a:noFill/>
          <a:ln cap="flat" cmpd="sng" w="254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27"/>
          <p:cNvSpPr/>
          <p:nvPr/>
        </p:nvSpPr>
        <p:spPr>
          <a:xfrm>
            <a:off x="457200" y="251460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살아남은 셀러가 실제로 얼마나 팔았는가?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/>
          <p:nvPr/>
        </p:nvSpPr>
        <p:spPr>
          <a:xfrm>
            <a:off x="457200" y="30632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채널별 LTV 역전 — Acquisition 순위와 매출 순위는 다르다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8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8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채널별 LTV 분석 — 유입과 매출의 역전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Acquisition 성과와 Revenue 성과가 일치하지 않는다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0" name="Google Shape;630;p28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revenue_chart_1_v2.png" id="631" name="Google Shape;6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832104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28"/>
          <p:cNvSpPr/>
          <p:nvPr/>
        </p:nvSpPr>
        <p:spPr>
          <a:xfrm>
            <a:off x="411480" y="4663440"/>
            <a:ext cx="4069080" cy="384048"/>
          </a:xfrm>
          <a:prstGeom prst="rect">
            <a:avLst/>
          </a:prstGeom>
          <a:solidFill>
            <a:srgbClr val="EAF7EF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8"/>
          <p:cNvSpPr/>
          <p:nvPr/>
        </p:nvSpPr>
        <p:spPr>
          <a:xfrm>
            <a:off x="502920" y="4709160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🏆 Referral: Median LTV R$1,400 (1위) — MQL은 최하위였으나 LTV 최강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8"/>
          <p:cNvSpPr/>
          <p:nvPr/>
        </p:nvSpPr>
        <p:spPr>
          <a:xfrm>
            <a:off x="4663440" y="4663440"/>
            <a:ext cx="4069080" cy="384048"/>
          </a:xfrm>
          <a:prstGeom prst="rect">
            <a:avLst/>
          </a:prstGeom>
          <a:solidFill>
            <a:srgbClr val="FEF9E7"/>
          </a:solidFill>
          <a:ln cap="flat" cmpd="sng" w="12700">
            <a:solidFill>
              <a:srgbClr val="F39C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8"/>
          <p:cNvSpPr/>
          <p:nvPr/>
        </p:nvSpPr>
        <p:spPr>
          <a:xfrm>
            <a:off x="4754880" y="4709160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⚠️ Unknown: 극단치 2명 제거 시 Median LTV R$512 — 사실상 paid_search와 동일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9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9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9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리드 프로파일별 LTV — 상어의 압도적 위력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셀러의 성향(Behaviour Profile)이 매출에 미치는 영향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29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revenue_chart_2_v2.png" id="646" name="Google Shape;6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530352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29"/>
          <p:cNvSpPr/>
          <p:nvPr/>
        </p:nvSpPr>
        <p:spPr>
          <a:xfrm>
            <a:off x="5943600" y="166420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🦈 상어 (Shark)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9"/>
          <p:cNvSpPr/>
          <p:nvPr/>
        </p:nvSpPr>
        <p:spPr>
          <a:xfrm>
            <a:off x="5943600" y="193852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대규모 재고, 디지털 숙련도 높은 기업형 셀러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5943600" y="216712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LTV: R$4,951 | A등급 50%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5943600" y="239572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🦅 독수리 (Eagle)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9"/>
          <p:cNvSpPr/>
          <p:nvPr/>
        </p:nvSpPr>
        <p:spPr>
          <a:xfrm>
            <a:off x="5943600" y="267004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특정 카테고리 집중, 빠르게 성장하는 중형 셀러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5943600" y="289864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LTV: R$1,796 | 중상위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9"/>
          <p:cNvSpPr/>
          <p:nvPr/>
        </p:nvSpPr>
        <p:spPr>
          <a:xfrm>
            <a:off x="5943600" y="312724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🐱 고양이 (Cat)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5943600" y="340156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소규모 개인 셀러, 전체 볼륨 지탱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5943600" y="363016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LTV: R$1,524 | 중위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9"/>
          <p:cNvSpPr/>
          <p:nvPr/>
        </p:nvSpPr>
        <p:spPr>
          <a:xfrm>
            <a:off x="5943600" y="385876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🐺 늑대 (Wolf)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5943600" y="413308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박리다매 전략. 주문량 부족으로 LTV 최하위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5943600" y="4361688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LTV: R$487 | 최하위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411480" y="470916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9"/>
          <p:cNvSpPr/>
          <p:nvPr/>
        </p:nvSpPr>
        <p:spPr>
          <a:xfrm>
            <a:off x="411480" y="470916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9"/>
          <p:cNvSpPr/>
          <p:nvPr/>
        </p:nvSpPr>
        <p:spPr>
          <a:xfrm>
            <a:off x="548640" y="478231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늑대의 LTV 최하위는 데이터 오류가 아닌 구조적 한계 — 박리다매 전략은 주문량이 뒷받침되어야 하나 중앙값 주문 3건에 그침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0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0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채널 × 프로파일 교차 분석 &amp; 투자 우선순위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Golden Path: Organic Search × 상어 셀러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1" name="Google Shape;671;p30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revenue_chart_3_v2.png" id="672" name="Google Shape;6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4206240" cy="2377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_images/revenue_chart_4_v2.png" id="673" name="Google Shape;67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572768"/>
            <a:ext cx="39776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30"/>
          <p:cNvSpPr/>
          <p:nvPr/>
        </p:nvSpPr>
        <p:spPr>
          <a:xfrm>
            <a:off x="411480" y="400507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채널 × 프로파일별 A등급 전환수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0"/>
          <p:cNvSpPr/>
          <p:nvPr/>
        </p:nvSpPr>
        <p:spPr>
          <a:xfrm>
            <a:off x="4754880" y="4005072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Reseller vs Manufacturer 투자 평가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0"/>
          <p:cNvSpPr/>
          <p:nvPr/>
        </p:nvSpPr>
        <p:spPr>
          <a:xfrm>
            <a:off x="411480" y="4370832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411480" y="4370832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0"/>
          <p:cNvSpPr/>
          <p:nvPr/>
        </p:nvSpPr>
        <p:spPr>
          <a:xfrm>
            <a:off x="548640" y="4443984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Reseller: 활성화율 48.9%, Median LTV R$590 | Manufacturer: 활성화율 37.2% — 영업 리소스는 Reseller 우선 배정. Manufacturer는 인큐베이팅 검토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0"/>
          <p:cNvSpPr/>
          <p:nvPr/>
        </p:nvSpPr>
        <p:spPr>
          <a:xfrm>
            <a:off x="411480" y="47548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예산 전략: organic_search + paid_search 이중 투자 | referral 볼륨 확대 육성 (A등급 비율 55.6%) | Social은 세그먼트 정밀화 우선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1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31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14일 골든타임 — 속도가 LTV를 결정한다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1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첫 판매까지 소요 기간이 짧을수록 LTV가 기하급수적으로 높다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9" name="Google Shape;689;p31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revenue_chart_5_v2.png" id="690" name="Google Shape;6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8321040" cy="288036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31"/>
          <p:cNvSpPr/>
          <p:nvPr/>
        </p:nvSpPr>
        <p:spPr>
          <a:xfrm>
            <a:off x="411480" y="4462272"/>
            <a:ext cx="4069080" cy="347472"/>
          </a:xfrm>
          <a:prstGeom prst="rect">
            <a:avLst/>
          </a:prstGeom>
          <a:solidFill>
            <a:srgbClr val="FDEDE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>
            <a:off x="502920" y="448970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🏆 14일 이내 첫 판매 = LTV 11.3배 | 28일 이내 = LTV 4.4배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4663440" y="4462272"/>
            <a:ext cx="4069080" cy="347472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1"/>
          <p:cNvSpPr/>
          <p:nvPr/>
        </p:nvSpPr>
        <p:spPr>
          <a:xfrm>
            <a:off x="4754880" y="4489704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전체 리드 중 상위 0.4%만 A등급 도달 — 리드 초기 감별이 핵심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1"/>
          <p:cNvSpPr/>
          <p:nvPr/>
        </p:nvSpPr>
        <p:spPr>
          <a:xfrm>
            <a:off x="411480" y="4864608"/>
            <a:ext cx="8321040" cy="32004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1"/>
          <p:cNvSpPr/>
          <p:nvPr/>
        </p:nvSpPr>
        <p:spPr>
          <a:xfrm>
            <a:off x="411480" y="4864608"/>
            <a:ext cx="54864" cy="32004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1"/>
          <p:cNvSpPr/>
          <p:nvPr/>
        </p:nvSpPr>
        <p:spPr>
          <a:xfrm>
            <a:off x="548640" y="4937760"/>
            <a:ext cx="8119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온보딩 팀 최우선 KPI: 가입 후 14일 이내 첫 판매 달성 | 병목 구간 집중 케어 → Time-to-first-sale 단축이 LTV 극대화의 핵심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2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2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| 핵심 인사이트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2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Revenue — 핵심 발견 요약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2"/>
          <p:cNvSpPr/>
          <p:nvPr/>
        </p:nvSpPr>
        <p:spPr>
          <a:xfrm>
            <a:off x="411480" y="1170432"/>
            <a:ext cx="8321040" cy="502920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2"/>
          <p:cNvSpPr/>
          <p:nvPr/>
        </p:nvSpPr>
        <p:spPr>
          <a:xfrm>
            <a:off x="548640" y="117043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Acquisition 성과 순위와 Revenue LTV 순위는 역전된다 — 14일이 LTV를 결정한다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2"/>
          <p:cNvSpPr/>
          <p:nvPr/>
        </p:nvSpPr>
        <p:spPr>
          <a:xfrm>
            <a:off x="41148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2"/>
          <p:cNvSpPr/>
          <p:nvPr/>
        </p:nvSpPr>
        <p:spPr>
          <a:xfrm>
            <a:off x="411480" y="1783080"/>
            <a:ext cx="64008" cy="1188720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2"/>
          <p:cNvSpPr/>
          <p:nvPr/>
        </p:nvSpPr>
        <p:spPr>
          <a:xfrm>
            <a:off x="57607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5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50B"/>
                </a:solidFill>
                <a:latin typeface="Calibri"/>
                <a:ea typeface="Calibri"/>
                <a:cs typeface="Calibri"/>
                <a:sym typeface="Calibri"/>
              </a:rPr>
              <a:t>채널별 LTV 역전 — Referral이 1위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2"/>
          <p:cNvSpPr/>
          <p:nvPr/>
        </p:nvSpPr>
        <p:spPr>
          <a:xfrm>
            <a:off x="57607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MQL 최하위였던 Referral 채널의 Median LTV가 R$1,400으로 1위. Unknown은 극단치 제거 시 사실상 paid_search와 동일 수준. 유입 지표만으로 채널을 평가하면 오판.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2"/>
          <p:cNvSpPr/>
          <p:nvPr/>
        </p:nvSpPr>
        <p:spPr>
          <a:xfrm>
            <a:off x="466344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2"/>
          <p:cNvSpPr/>
          <p:nvPr/>
        </p:nvSpPr>
        <p:spPr>
          <a:xfrm>
            <a:off x="4663440" y="1783080"/>
            <a:ext cx="64008" cy="1188720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2"/>
          <p:cNvSpPr/>
          <p:nvPr/>
        </p:nvSpPr>
        <p:spPr>
          <a:xfrm>
            <a:off x="482803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5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50B"/>
                </a:solidFill>
                <a:latin typeface="Calibri"/>
                <a:ea typeface="Calibri"/>
                <a:cs typeface="Calibri"/>
                <a:sym typeface="Calibri"/>
              </a:rPr>
              <a:t>14일 골든타임 — LTV 11.3배 차이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2"/>
          <p:cNvSpPr/>
          <p:nvPr/>
        </p:nvSpPr>
        <p:spPr>
          <a:xfrm>
            <a:off x="482803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첫 판매까지 14일 이내 달성 시 평균 LTV R$7,845 vs 91일+ R$693(11.3배). 온보딩 팀의 최우선 KPI를 '14일 내 첫 판매 달성률'로 설정해야 한다.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2"/>
          <p:cNvSpPr/>
          <p:nvPr/>
        </p:nvSpPr>
        <p:spPr>
          <a:xfrm>
            <a:off x="41148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2"/>
          <p:cNvSpPr/>
          <p:nvPr/>
        </p:nvSpPr>
        <p:spPr>
          <a:xfrm>
            <a:off x="411480" y="3108960"/>
            <a:ext cx="64008" cy="1188720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2"/>
          <p:cNvSpPr/>
          <p:nvPr/>
        </p:nvSpPr>
        <p:spPr>
          <a:xfrm>
            <a:off x="57607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5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50B"/>
                </a:solidFill>
                <a:latin typeface="Calibri"/>
                <a:ea typeface="Calibri"/>
                <a:cs typeface="Calibri"/>
                <a:sym typeface="Calibri"/>
              </a:rPr>
              <a:t>Shark × Reseller — Golden Combination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2"/>
          <p:cNvSpPr/>
          <p:nvPr/>
        </p:nvSpPr>
        <p:spPr>
          <a:xfrm>
            <a:off x="57607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Shark(Mean LTV R$4,951) + Reseller(활성화율 48.9%) 조합이 최강. Organic × Shark = Golden Path. 이 조합 리드 발생 시 최상위 SDR 즉각 배정 필요.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2"/>
          <p:cNvSpPr/>
          <p:nvPr/>
        </p:nvSpPr>
        <p:spPr>
          <a:xfrm>
            <a:off x="466344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"/>
          <p:cNvSpPr/>
          <p:nvPr/>
        </p:nvSpPr>
        <p:spPr>
          <a:xfrm>
            <a:off x="4663440" y="3108960"/>
            <a:ext cx="64008" cy="1188720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482803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95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7950B"/>
                </a:solidFill>
                <a:latin typeface="Calibri"/>
                <a:ea typeface="Calibri"/>
                <a:cs typeface="Calibri"/>
                <a:sym typeface="Calibri"/>
              </a:rPr>
              <a:t>리드 프로파일 — 상어(Shark)의 압도적 위력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2"/>
          <p:cNvSpPr/>
          <p:nvPr/>
        </p:nvSpPr>
        <p:spPr>
          <a:xfrm>
            <a:off x="482803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Shark Mean LTV R$4,951 vs Wolf R$487(10배 차이). Wolf의 낮은 LTV는 데이터 오류가 아닌 구조적 한계 — 박리다매 전략이 주문량 부족으로 작동 안 됨.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5" name="Google Shape;725;p32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6" name="Google Shape;726;p32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 다음 파트: Referral: 판매를 통한 고객 경험이 플랫폼 평판으로 이어지는 과정을 분석한다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3"/>
          <p:cNvSpPr/>
          <p:nvPr/>
        </p:nvSpPr>
        <p:spPr>
          <a:xfrm>
            <a:off x="5943600" y="274320"/>
            <a:ext cx="274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1E2B"/>
              </a:buClr>
              <a:buSzPts val="22000"/>
              <a:buFont typeface="Calibri"/>
              <a:buNone/>
            </a:pPr>
            <a:r>
              <a:rPr b="1" i="0" lang="en-US" sz="22000" u="none" cap="none" strike="noStrike">
                <a:solidFill>
                  <a:srgbClr val="141E2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3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3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AARRR — 4/5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3"/>
          <p:cNvSpPr/>
          <p:nvPr/>
        </p:nvSpPr>
        <p:spPr>
          <a:xfrm>
            <a:off x="457200" y="123444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7" name="Google Shape;737;p33"/>
          <p:cNvCxnSpPr/>
          <p:nvPr/>
        </p:nvCxnSpPr>
        <p:spPr>
          <a:xfrm>
            <a:off x="457200" y="2331720"/>
            <a:ext cx="5029200" cy="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8" name="Google Shape;738;p33"/>
          <p:cNvSpPr/>
          <p:nvPr/>
        </p:nvSpPr>
        <p:spPr>
          <a:xfrm>
            <a:off x="457200" y="251460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고객 경험이 플랫폼 평판을 만든다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3"/>
          <p:cNvSpPr/>
          <p:nvPr/>
        </p:nvSpPr>
        <p:spPr>
          <a:xfrm>
            <a:off x="457200" y="30632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리뷰·배송 품질은 다음 Acquisition으로 이어지는 신뢰 자산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4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4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4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고객 경험이 매출을 결정한다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4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리뷰 점수·배송 품질은 Acquisition으로 이어지는 플랫폼 신뢰 자산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9" name="Google Shape;749;p34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viz1_review_gmv_scatter.png" id="750" name="Google Shape;7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4206240" cy="242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_images/viz2_delivery_negative_curve.png" id="751" name="Google Shape;75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572768"/>
            <a:ext cx="397764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4"/>
          <p:cNvSpPr/>
          <p:nvPr/>
        </p:nvSpPr>
        <p:spPr>
          <a:xfrm>
            <a:off x="411480" y="4041648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리뷰 점수 - GMV 상관관계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4"/>
          <p:cNvSpPr/>
          <p:nvPr/>
        </p:nvSpPr>
        <p:spPr>
          <a:xfrm>
            <a:off x="4754880" y="404164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배송 소요일별 부정 리뷰 임계점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4"/>
          <p:cNvSpPr/>
          <p:nvPr/>
        </p:nvSpPr>
        <p:spPr>
          <a:xfrm>
            <a:off x="411480" y="4370832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34"/>
          <p:cNvSpPr/>
          <p:nvPr/>
        </p:nvSpPr>
        <p:spPr>
          <a:xfrm>
            <a:off x="411480" y="4370832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4"/>
          <p:cNvSpPr/>
          <p:nvPr/>
        </p:nvSpPr>
        <p:spPr>
          <a:xfrm>
            <a:off x="548640" y="4443984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리뷰 점수 4.0 기점으로 GMV 상단 밴드 급확장 | 배송 12일 초과 시 부정 리뷰 확률 급등 (임계점) → 12일 이내 배송 골든타임 설정 필요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4"/>
          <p:cNvSpPr/>
          <p:nvPr/>
        </p:nvSpPr>
        <p:spPr>
          <a:xfrm>
            <a:off x="411480" y="47548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액션: 12일 초과 배송 예정 주문 → 10일차 선제 알림 발송 | 평점 4.0 미만 셀러 개선 시 수수료 할인 등 재무적 인센티브 제공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5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5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5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채널별 고객 만족도 &amp; 부정 리뷰 원인 분석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5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Organic·Paid Search 유입 셀러가 만족도 최고 — 배송 지연이 최대 위기 요인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7" name="Google Shape;767;p35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viz3_channel_satisfaction.png" id="768" name="Google Shape;7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420624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_images/viz8_referral_index_ranking.png" id="769" name="Google Shape;76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3447288"/>
            <a:ext cx="4206240" cy="150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_images/viz4_nlp_keywords_comparison.png" id="770" name="Google Shape;7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572768"/>
            <a:ext cx="397764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ppt_images/viz7_delay_vs_revenue.png" id="771" name="Google Shape;77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3447288"/>
            <a:ext cx="3977640" cy="15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35"/>
          <p:cNvSpPr/>
          <p:nvPr/>
        </p:nvSpPr>
        <p:spPr>
          <a:xfrm>
            <a:off x="411480" y="502920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5"/>
          <p:cNvSpPr/>
          <p:nvPr/>
        </p:nvSpPr>
        <p:spPr>
          <a:xfrm>
            <a:off x="411480" y="502920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5"/>
          <p:cNvSpPr/>
          <p:nvPr/>
        </p:nvSpPr>
        <p:spPr>
          <a:xfrm>
            <a:off x="548640" y="510235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부정 리뷰 1위 원인: demora(지연)·atraso(늦음) 등 배송 문제 | 'demora' 키워드 10% 초과 셀러 → Red Flag 자동 개입 시스템 구축 필요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6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6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6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우량 셀러 vs 일반 셀러 — 매출이 품질을 결정한다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6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Top 20% 매출 셀러는 평점 안정성이 압도적으로 높다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4" name="Google Shape;784;p36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home/claude/ppt_images/viz6_star_vs_normal_boxplot.png" id="785" name="Google Shape;78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572768"/>
            <a:ext cx="484632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36"/>
          <p:cNvSpPr/>
          <p:nvPr/>
        </p:nvSpPr>
        <p:spPr>
          <a:xfrm>
            <a:off x="5486400" y="1664208"/>
            <a:ext cx="54864" cy="54864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36"/>
          <p:cNvSpPr/>
          <p:nvPr/>
        </p:nvSpPr>
        <p:spPr>
          <a:xfrm>
            <a:off x="5623560" y="166420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우량 셀러 (Top 20%)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6"/>
          <p:cNvSpPr/>
          <p:nvPr/>
        </p:nvSpPr>
        <p:spPr>
          <a:xfrm>
            <a:off x="5623560" y="193852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평균 평점 높고 Q1 방어율 뛰어나 편차 적음 — 일관된 품질 유지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6"/>
          <p:cNvSpPr/>
          <p:nvPr/>
        </p:nvSpPr>
        <p:spPr>
          <a:xfrm>
            <a:off x="5486400" y="2377440"/>
            <a:ext cx="54864" cy="548640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6"/>
          <p:cNvSpPr/>
          <p:nvPr/>
        </p:nvSpPr>
        <p:spPr>
          <a:xfrm>
            <a:off x="5623560" y="23774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일반 셀러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6"/>
          <p:cNvSpPr/>
          <p:nvPr/>
        </p:nvSpPr>
        <p:spPr>
          <a:xfrm>
            <a:off x="5623560" y="26517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평균 평점은 비슷하나 하위 편차 크고 1점대까지 분포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6"/>
          <p:cNvSpPr/>
          <p:nvPr/>
        </p:nvSpPr>
        <p:spPr>
          <a:xfrm>
            <a:off x="5486400" y="3090672"/>
            <a:ext cx="54864" cy="548640"/>
          </a:xfrm>
          <a:prstGeom prst="rect">
            <a:avLst/>
          </a:prstGeom>
          <a:solidFill>
            <a:srgbClr val="856404"/>
          </a:solidFill>
          <a:ln cap="flat" cmpd="sng" w="12700">
            <a:solidFill>
              <a:srgbClr val="8564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6"/>
          <p:cNvSpPr/>
          <p:nvPr/>
        </p:nvSpPr>
        <p:spPr>
          <a:xfrm>
            <a:off x="5623560" y="309067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카테고리 위험군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6"/>
          <p:cNvSpPr/>
          <p:nvPr/>
        </p:nvSpPr>
        <p:spPr>
          <a:xfrm>
            <a:off x="5623560" y="336499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가구·대형 가전 등 특정 카테고리에서 구조적 낮은 평점 군집화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6"/>
          <p:cNvSpPr/>
          <p:nvPr/>
        </p:nvSpPr>
        <p:spPr>
          <a:xfrm>
            <a:off x="5486400" y="3803904"/>
            <a:ext cx="54864" cy="54864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6"/>
          <p:cNvSpPr/>
          <p:nvPr/>
        </p:nvSpPr>
        <p:spPr>
          <a:xfrm>
            <a:off x="5623560" y="3803904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운영 권고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6"/>
          <p:cNvSpPr/>
          <p:nvPr/>
        </p:nvSpPr>
        <p:spPr>
          <a:xfrm>
            <a:off x="5623560" y="4078224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위험 카테고리 신규 셀러 → Olist Fulfillment 의무화 또는 물류 역량 심사 강화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6"/>
          <p:cNvSpPr/>
          <p:nvPr/>
        </p:nvSpPr>
        <p:spPr>
          <a:xfrm>
            <a:off x="411480" y="4709160"/>
            <a:ext cx="8321040" cy="338328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6"/>
          <p:cNvSpPr/>
          <p:nvPr/>
        </p:nvSpPr>
        <p:spPr>
          <a:xfrm>
            <a:off x="411480" y="4709160"/>
            <a:ext cx="54864" cy="338328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6"/>
          <p:cNvSpPr/>
          <p:nvPr/>
        </p:nvSpPr>
        <p:spPr>
          <a:xfrm>
            <a:off x="548640" y="4782312"/>
            <a:ext cx="8119872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마케팅 예산: Referral Index 최하위 채널 예산 축소 → Organic/Paid Search 인바운드 채널 집중 | 만족도 낮은 채널 셀러 → 온보딩 허들 설정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7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7"/>
          <p:cNvSpPr/>
          <p:nvPr/>
        </p:nvSpPr>
        <p:spPr>
          <a:xfrm>
            <a:off x="411480" y="27432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 | 핵심 인사이트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7"/>
          <p:cNvSpPr/>
          <p:nvPr/>
        </p:nvSpPr>
        <p:spPr>
          <a:xfrm>
            <a:off x="411480" y="594360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Referral — 핵심 발견 요약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7"/>
          <p:cNvSpPr/>
          <p:nvPr/>
        </p:nvSpPr>
        <p:spPr>
          <a:xfrm>
            <a:off x="411480" y="1170432"/>
            <a:ext cx="8321040" cy="5029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7"/>
          <p:cNvSpPr/>
          <p:nvPr/>
        </p:nvSpPr>
        <p:spPr>
          <a:xfrm>
            <a:off x="548640" y="117043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💡 배송 12일이 임계점, demora(지연)가 적 — 플랫폼 평판은 배송에서 만들어진다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7"/>
          <p:cNvSpPr/>
          <p:nvPr/>
        </p:nvSpPr>
        <p:spPr>
          <a:xfrm>
            <a:off x="41148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7"/>
          <p:cNvSpPr/>
          <p:nvPr/>
        </p:nvSpPr>
        <p:spPr>
          <a:xfrm>
            <a:off x="411480" y="1783080"/>
            <a:ext cx="64008" cy="11887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7"/>
          <p:cNvSpPr/>
          <p:nvPr/>
        </p:nvSpPr>
        <p:spPr>
          <a:xfrm>
            <a:off x="57607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배송 12일 — 부정 리뷰의 임계점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7"/>
          <p:cNvSpPr/>
          <p:nvPr/>
        </p:nvSpPr>
        <p:spPr>
          <a:xfrm>
            <a:off x="57607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12일까지 부정 리뷰 발생률 10% 수준으로 안정. 12일 초과 시 급등 → 30일 50%, 50일 80%. 10일차 선제 알림 시스템 구축이 핵심 액션.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7"/>
          <p:cNvSpPr/>
          <p:nvPr/>
        </p:nvSpPr>
        <p:spPr>
          <a:xfrm>
            <a:off x="4663440" y="178308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7"/>
          <p:cNvSpPr/>
          <p:nvPr/>
        </p:nvSpPr>
        <p:spPr>
          <a:xfrm>
            <a:off x="4663440" y="1783080"/>
            <a:ext cx="64008" cy="11887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7"/>
          <p:cNvSpPr/>
          <p:nvPr/>
        </p:nvSpPr>
        <p:spPr>
          <a:xfrm>
            <a:off x="4828032" y="18745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부정 리뷰 1위 원인 — demora(지연)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7"/>
          <p:cNvSpPr/>
          <p:nvPr/>
        </p:nvSpPr>
        <p:spPr>
          <a:xfrm>
            <a:off x="4828032" y="216712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NLP 분석 결과 부정 키워드 1위 demora(지연), atraso(늦음). 리뷰 품질 문제의 핵심은 상품이 아닌 배송 지연. 물류 역량 관리가 핵심.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7"/>
          <p:cNvSpPr/>
          <p:nvPr/>
        </p:nvSpPr>
        <p:spPr>
          <a:xfrm>
            <a:off x="41148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7"/>
          <p:cNvSpPr/>
          <p:nvPr/>
        </p:nvSpPr>
        <p:spPr>
          <a:xfrm>
            <a:off x="411480" y="3108960"/>
            <a:ext cx="64008" cy="11887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37"/>
          <p:cNvSpPr/>
          <p:nvPr/>
        </p:nvSpPr>
        <p:spPr>
          <a:xfrm>
            <a:off x="57607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Organic Search 셀러 — 만족도 최고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7"/>
          <p:cNvSpPr/>
          <p:nvPr/>
        </p:nvSpPr>
        <p:spPr>
          <a:xfrm>
            <a:off x="57607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Organic 셀러 5점 리뷰 비율 67.3%로 전체 1위, Referral Index 최상위. Acquisition → Retention → Referral 모두 Organic이 우수한 선순환.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7"/>
          <p:cNvSpPr/>
          <p:nvPr/>
        </p:nvSpPr>
        <p:spPr>
          <a:xfrm>
            <a:off x="4663440" y="3108960"/>
            <a:ext cx="4069080" cy="1188720"/>
          </a:xfrm>
          <a:prstGeom prst="rect">
            <a:avLst/>
          </a:prstGeom>
          <a:solidFill>
            <a:srgbClr val="F8F9FA"/>
          </a:solidFill>
          <a:ln cap="flat" cmpd="sng" w="1015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37"/>
          <p:cNvSpPr/>
          <p:nvPr/>
        </p:nvSpPr>
        <p:spPr>
          <a:xfrm>
            <a:off x="4663440" y="3108960"/>
            <a:ext cx="64008" cy="118872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37"/>
          <p:cNvSpPr/>
          <p:nvPr/>
        </p:nvSpPr>
        <p:spPr>
          <a:xfrm>
            <a:off x="4828032" y="32004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우량 셀러 — 평점 일관성이 다르다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7"/>
          <p:cNvSpPr/>
          <p:nvPr/>
        </p:nvSpPr>
        <p:spPr>
          <a:xfrm>
            <a:off x="4828032" y="3493008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Top 20% 매출 셀러는 평균 평점이 높을 뿐 아니라 하위 편차(Q1)가 훨씬 작음. 역량 있는 셀러는 상품·배송·CS 모두 잘 관리하는 패턴.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8" name="Google Shape;828;p37"/>
          <p:cNvCxnSpPr/>
          <p:nvPr/>
        </p:nvCxnSpPr>
        <p:spPr>
          <a:xfrm>
            <a:off x="411480" y="4773168"/>
            <a:ext cx="83210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9" name="Google Shape;829;p37"/>
          <p:cNvSpPr/>
          <p:nvPr/>
        </p:nvSpPr>
        <p:spPr>
          <a:xfrm>
            <a:off x="411480" y="482803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rPr>
              <a:t>▶  다음 파트: Strategy: AARRR 5단계 발견을 하나의 실행 계획으로 통합한다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3E50"/>
          </a:solidFill>
          <a:ln cap="flat" cmpd="sng" w="127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38"/>
          <p:cNvSpPr/>
          <p:nvPr/>
        </p:nvSpPr>
        <p:spPr>
          <a:xfrm>
            <a:off x="5943600" y="274320"/>
            <a:ext cx="274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1E2B"/>
              </a:buClr>
              <a:buSzPts val="22000"/>
              <a:buFont typeface="Calibri"/>
              <a:buNone/>
            </a:pPr>
            <a:r>
              <a:rPr b="1" i="0" lang="en-US" sz="22000" u="none" cap="none" strike="noStrike">
                <a:solidFill>
                  <a:srgbClr val="141E2B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endParaRPr b="0" i="0" sz="2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8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solidFill>
            <a:srgbClr val="2C3E50"/>
          </a:solidFill>
          <a:ln cap="flat" cmpd="sng" w="127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38"/>
          <p:cNvSpPr/>
          <p:nvPr/>
        </p:nvSpPr>
        <p:spPr>
          <a:xfrm>
            <a:off x="457200" y="8229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AARRR — ★/5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8"/>
          <p:cNvSpPr/>
          <p:nvPr/>
        </p:nvSpPr>
        <p:spPr>
          <a:xfrm>
            <a:off x="457200" y="123444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0" name="Google Shape;840;p38"/>
          <p:cNvCxnSpPr/>
          <p:nvPr/>
        </p:nvCxnSpPr>
        <p:spPr>
          <a:xfrm>
            <a:off x="457200" y="2331720"/>
            <a:ext cx="5029200" cy="0"/>
          </a:xfrm>
          <a:prstGeom prst="straightConnector1">
            <a:avLst/>
          </a:prstGeom>
          <a:noFill/>
          <a:ln cap="flat" cmpd="sng" w="25400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1" name="Google Shape;841;p38"/>
          <p:cNvSpPr/>
          <p:nvPr/>
        </p:nvSpPr>
        <p:spPr>
          <a:xfrm>
            <a:off x="457200" y="251460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C4D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0C4D8"/>
                </a:solidFill>
                <a:latin typeface="Calibri"/>
                <a:ea typeface="Calibri"/>
                <a:cs typeface="Calibri"/>
                <a:sym typeface="Calibri"/>
              </a:rPr>
              <a:t>분석을 넘어 실행으로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8"/>
          <p:cNvSpPr/>
          <p:nvPr/>
        </p:nvSpPr>
        <p:spPr>
          <a:xfrm>
            <a:off x="457200" y="30632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AARRR 5단계 발견을 하나의 액션 플랜으로 통합한다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39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9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9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Cross-AARRR 종합 전략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9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3가지 핵심 전략으로 전체 퍼널을 관통한다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2" name="Google Shape;852;p39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3" name="Google Shape;853;p39"/>
          <p:cNvSpPr/>
          <p:nvPr/>
        </p:nvSpPr>
        <p:spPr>
          <a:xfrm>
            <a:off x="411480" y="1600200"/>
            <a:ext cx="26517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39"/>
          <p:cNvSpPr/>
          <p:nvPr/>
        </p:nvSpPr>
        <p:spPr>
          <a:xfrm>
            <a:off x="411480" y="1600200"/>
            <a:ext cx="2651760" cy="54864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9"/>
          <p:cNvSpPr/>
          <p:nvPr/>
        </p:nvSpPr>
        <p:spPr>
          <a:xfrm>
            <a:off x="548640" y="17190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74C3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9"/>
          <p:cNvSpPr/>
          <p:nvPr/>
        </p:nvSpPr>
        <p:spPr>
          <a:xfrm>
            <a:off x="548640" y="221284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14일 골든타임 온보딩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7" name="Google Shape;857;p39"/>
          <p:cNvCxnSpPr/>
          <p:nvPr/>
        </p:nvCxnSpPr>
        <p:spPr>
          <a:xfrm>
            <a:off x="548640" y="2715768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8" name="Google Shape;858;p39"/>
          <p:cNvSpPr/>
          <p:nvPr/>
        </p:nvSpPr>
        <p:spPr>
          <a:xfrm>
            <a:off x="548640" y="280720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14일 이내 첫 판매 = LTV 11.3배 / 28일 이내 = LTV 4.4배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9"/>
          <p:cNvSpPr/>
          <p:nvPr/>
        </p:nvSpPr>
        <p:spPr>
          <a:xfrm>
            <a:off x="548640" y="322783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온보딩 팀 최우선 KPI로 지정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9"/>
          <p:cNvSpPr/>
          <p:nvPr/>
        </p:nvSpPr>
        <p:spPr>
          <a:xfrm>
            <a:off x="548640" y="3648456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Sales Cycle 짧은 셀러 → 계약 직후 집중 케어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9"/>
          <p:cNvSpPr/>
          <p:nvPr/>
        </p:nvSpPr>
        <p:spPr>
          <a:xfrm>
            <a:off x="548640" y="406908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Manufacturer는 45일+ 확장 온보딩 + 중간 KPI 관리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9"/>
          <p:cNvSpPr/>
          <p:nvPr/>
        </p:nvSpPr>
        <p:spPr>
          <a:xfrm>
            <a:off x="3246120" y="1600200"/>
            <a:ext cx="26517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9"/>
          <p:cNvSpPr/>
          <p:nvPr/>
        </p:nvSpPr>
        <p:spPr>
          <a:xfrm>
            <a:off x="3246120" y="1600200"/>
            <a:ext cx="2651760" cy="54864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9"/>
          <p:cNvSpPr/>
          <p:nvPr/>
        </p:nvSpPr>
        <p:spPr>
          <a:xfrm>
            <a:off x="3383280" y="17190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9"/>
          <p:cNvSpPr/>
          <p:nvPr/>
        </p:nvSpPr>
        <p:spPr>
          <a:xfrm>
            <a:off x="3383280" y="221284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상어 + Reseller 우선 배정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6" name="Google Shape;866;p39"/>
          <p:cNvCxnSpPr/>
          <p:nvPr/>
        </p:nvCxnSpPr>
        <p:spPr>
          <a:xfrm>
            <a:off x="3383280" y="2715768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7" name="Google Shape;867;p39"/>
          <p:cNvSpPr/>
          <p:nvPr/>
        </p:nvSpPr>
        <p:spPr>
          <a:xfrm>
            <a:off x="3383280" y="280720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상어(Shark) Mean LTV R$4,951 — 전체 평균 대비 2.8배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9"/>
          <p:cNvSpPr/>
          <p:nvPr/>
        </p:nvSpPr>
        <p:spPr>
          <a:xfrm>
            <a:off x="3383280" y="322783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이 조합 리드 발생 시 최상위 SDR(영업담당) 즉각 투입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9"/>
          <p:cNvSpPr/>
          <p:nvPr/>
        </p:nvSpPr>
        <p:spPr>
          <a:xfrm>
            <a:off x="3383280" y="3648456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paid_search × online_big × reseller = 계약 후 첫 판매 달성율 71%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9"/>
          <p:cNvSpPr/>
          <p:nvPr/>
        </p:nvSpPr>
        <p:spPr>
          <a:xfrm>
            <a:off x="3383280" y="406908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Manufacturer 대상 별도 인큐베이팅 프로그램 검토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9"/>
          <p:cNvSpPr/>
          <p:nvPr/>
        </p:nvSpPr>
        <p:spPr>
          <a:xfrm>
            <a:off x="6080760" y="1600200"/>
            <a:ext cx="26517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39"/>
          <p:cNvSpPr/>
          <p:nvPr/>
        </p:nvSpPr>
        <p:spPr>
          <a:xfrm>
            <a:off x="6080760" y="1600200"/>
            <a:ext cx="2651760" cy="54864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39"/>
          <p:cNvSpPr/>
          <p:nvPr/>
        </p:nvSpPr>
        <p:spPr>
          <a:xfrm>
            <a:off x="6217920" y="171907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9"/>
          <p:cNvSpPr/>
          <p:nvPr/>
        </p:nvSpPr>
        <p:spPr>
          <a:xfrm>
            <a:off x="6217920" y="221284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채널별 예산 재배분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5" name="Google Shape;875;p39"/>
          <p:cNvCxnSpPr/>
          <p:nvPr/>
        </p:nvCxnSpPr>
        <p:spPr>
          <a:xfrm>
            <a:off x="6217920" y="2715768"/>
            <a:ext cx="237744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6" name="Google Shape;876;p39"/>
          <p:cNvSpPr/>
          <p:nvPr/>
        </p:nvSpPr>
        <p:spPr>
          <a:xfrm>
            <a:off x="6217920" y="280720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paid_search + organic_search 이중 집중 투자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9"/>
          <p:cNvSpPr/>
          <p:nvPr/>
        </p:nvSpPr>
        <p:spPr>
          <a:xfrm>
            <a:off x="6217920" y="322783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referral 프로그램 볼륨 확대 (A등급 비율 55.6%)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9"/>
          <p:cNvSpPr/>
          <p:nvPr/>
        </p:nvSpPr>
        <p:spPr>
          <a:xfrm>
            <a:off x="6217920" y="3648456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Social: 전면 삭감 아닌 online_big 세그먼트 정밀화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9"/>
          <p:cNvSpPr/>
          <p:nvPr/>
        </p:nvSpPr>
        <p:spPr>
          <a:xfrm>
            <a:off x="6217920" y="406908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·  unknown: UTM 정비 후 실제 채널 재분류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9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39"/>
          <p:cNvSpPr/>
          <p:nvPr/>
        </p:nvSpPr>
        <p:spPr>
          <a:xfrm>
            <a:off x="411480" y="4590288"/>
            <a:ext cx="54864" cy="347472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9"/>
          <p:cNvSpPr/>
          <p:nvPr/>
        </p:nvSpPr>
        <p:spPr>
          <a:xfrm>
            <a:off x="548640" y="4663440"/>
            <a:ext cx="8119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"Acquisition(유입) → Activation(계약 전환) → Retention(첫 판매 달성) → Revenue(매출)" — Reseller·상어를 Organic/Paid로 유입해 14일 내 첫 판매를 달성시키는 것이 핵심이다.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0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0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0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파트별 핵심 발견 요약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0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AARRR 5단계를 관통하는 Top 인사이트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2" name="Google Shape;892;p40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p40"/>
          <p:cNvSpPr/>
          <p:nvPr/>
        </p:nvSpPr>
        <p:spPr>
          <a:xfrm>
            <a:off x="411480" y="1600200"/>
            <a:ext cx="1371600" cy="53035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40"/>
          <p:cNvSpPr/>
          <p:nvPr/>
        </p:nvSpPr>
        <p:spPr>
          <a:xfrm>
            <a:off x="411480" y="1600200"/>
            <a:ext cx="1371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0"/>
          <p:cNvSpPr/>
          <p:nvPr/>
        </p:nvSpPr>
        <p:spPr>
          <a:xfrm>
            <a:off x="1874520" y="1600200"/>
            <a:ext cx="68580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0"/>
          <p:cNvSpPr/>
          <p:nvPr/>
        </p:nvSpPr>
        <p:spPr>
          <a:xfrm>
            <a:off x="2011680" y="1655064"/>
            <a:ext cx="6583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같은 광고비라도 랜딩페이지에 따라 CVR 8배 차이 | Social CVR 5.6% 최하위지만 online_big 계약자의 계약 후 판매 달성율 75% | Unknown = UTM 결함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0"/>
          <p:cNvSpPr/>
          <p:nvPr/>
        </p:nvSpPr>
        <p:spPr>
          <a:xfrm>
            <a:off x="411480" y="2203704"/>
            <a:ext cx="1371600" cy="530352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40"/>
          <p:cNvSpPr/>
          <p:nvPr/>
        </p:nvSpPr>
        <p:spPr>
          <a:xfrm>
            <a:off x="411480" y="2203704"/>
            <a:ext cx="1371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0"/>
          <p:cNvSpPr/>
          <p:nvPr/>
        </p:nvSpPr>
        <p:spPr>
          <a:xfrm>
            <a:off x="1874520" y="2203704"/>
            <a:ext cx="68580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40"/>
          <p:cNvSpPr/>
          <p:nvPr/>
        </p:nvSpPr>
        <p:spPr>
          <a:xfrm>
            <a:off x="2011680" y="2258568"/>
            <a:ext cx="6583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유입 시기가 계약 전환을 가장 강하게 결정 (ML 중요도 1위 27.3%) | 코호트별 계약 소요기간 37배 차이 | Social·Email 이탈률 94~97%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0"/>
          <p:cNvSpPr/>
          <p:nvPr/>
        </p:nvSpPr>
        <p:spPr>
          <a:xfrm>
            <a:off x="411480" y="2807208"/>
            <a:ext cx="1371600" cy="530352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40"/>
          <p:cNvSpPr/>
          <p:nvPr/>
        </p:nvSpPr>
        <p:spPr>
          <a:xfrm>
            <a:off x="411480" y="2807208"/>
            <a:ext cx="1371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0"/>
          <p:cNvSpPr/>
          <p:nvPr/>
        </p:nvSpPr>
        <p:spPr>
          <a:xfrm>
            <a:off x="1874520" y="2807208"/>
            <a:ext cx="68580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0"/>
          <p:cNvSpPr/>
          <p:nvPr/>
        </p:nvSpPr>
        <p:spPr>
          <a:xfrm>
            <a:off x="2011680" y="2862072"/>
            <a:ext cx="6583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Sales Cycle 10일 vs 21일 — 입점 속도가 활성화(첫 판매 달성)의 핵심 선행 지표 | Reseller 활성화율 11.7%p 우위 | household_utilities·pet 업종 상위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0"/>
          <p:cNvSpPr/>
          <p:nvPr/>
        </p:nvSpPr>
        <p:spPr>
          <a:xfrm>
            <a:off x="411480" y="3410712"/>
            <a:ext cx="1371600" cy="530352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40"/>
          <p:cNvSpPr/>
          <p:nvPr/>
        </p:nvSpPr>
        <p:spPr>
          <a:xfrm>
            <a:off x="411480" y="3410712"/>
            <a:ext cx="1371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0"/>
          <p:cNvSpPr/>
          <p:nvPr/>
        </p:nvSpPr>
        <p:spPr>
          <a:xfrm>
            <a:off x="1874520" y="3410712"/>
            <a:ext cx="68580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40"/>
          <p:cNvSpPr/>
          <p:nvPr/>
        </p:nvSpPr>
        <p:spPr>
          <a:xfrm>
            <a:off x="2011680" y="3465576"/>
            <a:ext cx="6583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Referral Median LTV 1위 (유입은 최하위) | 14일 이내 첫 판매 = LTV 11.3배 | Organic × 상어 = Golden Path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40"/>
          <p:cNvSpPr/>
          <p:nvPr/>
        </p:nvSpPr>
        <p:spPr>
          <a:xfrm>
            <a:off x="411480" y="4014216"/>
            <a:ext cx="1371600" cy="5303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40"/>
          <p:cNvSpPr/>
          <p:nvPr/>
        </p:nvSpPr>
        <p:spPr>
          <a:xfrm>
            <a:off x="411480" y="4014216"/>
            <a:ext cx="1371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40"/>
          <p:cNvSpPr/>
          <p:nvPr/>
        </p:nvSpPr>
        <p:spPr>
          <a:xfrm>
            <a:off x="1874520" y="4014216"/>
            <a:ext cx="685800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0"/>
          <p:cNvSpPr/>
          <p:nvPr/>
        </p:nvSpPr>
        <p:spPr>
          <a:xfrm>
            <a:off x="2011680" y="4069080"/>
            <a:ext cx="6583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배송 12일 초과 → 부정 리뷰 급등 임계점 | demora(지연) 키워드 = 1위 불만 요인 | Organic/Paid 셀러 만족도 최고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0"/>
          <p:cNvSpPr/>
          <p:nvPr/>
        </p:nvSpPr>
        <p:spPr>
          <a:xfrm>
            <a:off x="411480" y="4681728"/>
            <a:ext cx="8321040" cy="320040"/>
          </a:xfrm>
          <a:prstGeom prst="rect">
            <a:avLst/>
          </a:prstGeom>
          <a:solidFill>
            <a:srgbClr val="EBF5FB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40"/>
          <p:cNvSpPr/>
          <p:nvPr/>
        </p:nvSpPr>
        <p:spPr>
          <a:xfrm>
            <a:off x="411480" y="4681728"/>
            <a:ext cx="54864" cy="32004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40"/>
          <p:cNvSpPr/>
          <p:nvPr/>
        </p:nvSpPr>
        <p:spPr>
          <a:xfrm>
            <a:off x="548640" y="4754880"/>
            <a:ext cx="8119872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관통 키워드: 속도(Sales Cycle) · 채널(Organic/Paid) · 형태(Reseller) · 온보딩(14일). 이 4가지가 전체 퍼널을 결정한다.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1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41"/>
          <p:cNvSpPr/>
          <p:nvPr/>
        </p:nvSpPr>
        <p:spPr>
          <a:xfrm>
            <a:off x="411480" y="2743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 PLAN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1"/>
          <p:cNvSpPr/>
          <p:nvPr/>
        </p:nvSpPr>
        <p:spPr>
          <a:xfrm>
            <a:off x="411480" y="59436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통합 액션 플랜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1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AARRR 전 파트를 관통하는 실행 우선순위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5" name="Google Shape;925;p41"/>
          <p:cNvCxnSpPr/>
          <p:nvPr/>
        </p:nvCxnSpPr>
        <p:spPr>
          <a:xfrm>
            <a:off x="411480" y="146304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6" name="Google Shape;926;p41"/>
          <p:cNvSpPr/>
          <p:nvPr/>
        </p:nvSpPr>
        <p:spPr>
          <a:xfrm>
            <a:off x="411480" y="1572768"/>
            <a:ext cx="2697480" cy="3291840"/>
          </a:xfrm>
          <a:prstGeom prst="rect">
            <a:avLst/>
          </a:prstGeom>
          <a:solidFill>
            <a:srgbClr val="FE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41"/>
          <p:cNvSpPr/>
          <p:nvPr/>
        </p:nvSpPr>
        <p:spPr>
          <a:xfrm>
            <a:off x="411480" y="1572768"/>
            <a:ext cx="2697480" cy="384048"/>
          </a:xfrm>
          <a:prstGeom prst="rect">
            <a:avLst/>
          </a:prstGeom>
          <a:solidFill>
            <a:srgbClr val="E74C3C"/>
          </a:solidFill>
          <a:ln cap="flat" cmpd="sng" w="12700">
            <a:solidFill>
              <a:srgbClr val="E74C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1"/>
          <p:cNvSpPr/>
          <p:nvPr/>
        </p:nvSpPr>
        <p:spPr>
          <a:xfrm>
            <a:off x="521208" y="157276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🔴  단기 (0~4주)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41"/>
          <p:cNvSpPr/>
          <p:nvPr/>
        </p:nvSpPr>
        <p:spPr>
          <a:xfrm>
            <a:off x="521208" y="2029968"/>
            <a:ext cx="804672" cy="18288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41"/>
          <p:cNvSpPr/>
          <p:nvPr/>
        </p:nvSpPr>
        <p:spPr>
          <a:xfrm>
            <a:off x="521208" y="2029968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1"/>
          <p:cNvSpPr/>
          <p:nvPr/>
        </p:nvSpPr>
        <p:spPr>
          <a:xfrm>
            <a:off x="521208" y="2249424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22c29808 랜딩페이지로 Paid Search 트래픽 집중, 비효율 페이지 폐기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2" name="Google Shape;932;p41"/>
          <p:cNvCxnSpPr/>
          <p:nvPr/>
        </p:nvCxnSpPr>
        <p:spPr>
          <a:xfrm>
            <a:off x="521208" y="2569464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3" name="Google Shape;933;p41"/>
          <p:cNvSpPr/>
          <p:nvPr/>
        </p:nvSpPr>
        <p:spPr>
          <a:xfrm>
            <a:off x="521208" y="2642616"/>
            <a:ext cx="804672" cy="18288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1"/>
          <p:cNvSpPr/>
          <p:nvPr/>
        </p:nvSpPr>
        <p:spPr>
          <a:xfrm>
            <a:off x="521208" y="2642616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1"/>
          <p:cNvSpPr/>
          <p:nvPr/>
        </p:nvSpPr>
        <p:spPr>
          <a:xfrm>
            <a:off x="521208" y="2862072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Social offline·industry 타겟 즉시 제거 → online_big/medium 집중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6" name="Google Shape;936;p41"/>
          <p:cNvCxnSpPr/>
          <p:nvPr/>
        </p:nvCxnSpPr>
        <p:spPr>
          <a:xfrm>
            <a:off x="521208" y="3182112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41"/>
          <p:cNvSpPr/>
          <p:nvPr/>
        </p:nvSpPr>
        <p:spPr>
          <a:xfrm>
            <a:off x="521208" y="3255264"/>
            <a:ext cx="804672" cy="18288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41"/>
          <p:cNvSpPr/>
          <p:nvPr/>
        </p:nvSpPr>
        <p:spPr>
          <a:xfrm>
            <a:off x="521208" y="3255264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1"/>
          <p:cNvSpPr/>
          <p:nvPr/>
        </p:nvSpPr>
        <p:spPr>
          <a:xfrm>
            <a:off x="521208" y="3474720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b76ef374 UTM 추적 오류 점검 및 전면 감사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0" name="Google Shape;940;p41"/>
          <p:cNvCxnSpPr/>
          <p:nvPr/>
        </p:nvCxnSpPr>
        <p:spPr>
          <a:xfrm>
            <a:off x="521208" y="3794760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1" name="Google Shape;941;p41"/>
          <p:cNvSpPr/>
          <p:nvPr/>
        </p:nvSpPr>
        <p:spPr>
          <a:xfrm>
            <a:off x="521208" y="3867912"/>
            <a:ext cx="804672" cy="18288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41"/>
          <p:cNvSpPr/>
          <p:nvPr/>
        </p:nvSpPr>
        <p:spPr>
          <a:xfrm>
            <a:off x="521208" y="3867912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1"/>
          <p:cNvSpPr/>
          <p:nvPr/>
        </p:nvSpPr>
        <p:spPr>
          <a:xfrm>
            <a:off x="521208" y="4087368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Sales Cycle 7일 내 리드 → 72시간 내 SDR 투입 + 상품 등록 지원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4" name="Google Shape;944;p41"/>
          <p:cNvCxnSpPr/>
          <p:nvPr/>
        </p:nvCxnSpPr>
        <p:spPr>
          <a:xfrm>
            <a:off x="521208" y="4407408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5" name="Google Shape;945;p41"/>
          <p:cNvSpPr/>
          <p:nvPr/>
        </p:nvSpPr>
        <p:spPr>
          <a:xfrm>
            <a:off x="521208" y="4480560"/>
            <a:ext cx="804672" cy="1828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1"/>
          <p:cNvSpPr/>
          <p:nvPr/>
        </p:nvSpPr>
        <p:spPr>
          <a:xfrm>
            <a:off x="521208" y="4480560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1"/>
          <p:cNvSpPr/>
          <p:nvPr/>
        </p:nvSpPr>
        <p:spPr>
          <a:xfrm>
            <a:off x="521208" y="4700016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배송 10일차 자동 알림 시스템 구축 (12일 임계점 선제 대응)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1"/>
          <p:cNvSpPr/>
          <p:nvPr/>
        </p:nvSpPr>
        <p:spPr>
          <a:xfrm>
            <a:off x="3246120" y="1572768"/>
            <a:ext cx="2697480" cy="3291840"/>
          </a:xfrm>
          <a:prstGeom prst="rect">
            <a:avLst/>
          </a:prstGeom>
          <a:solidFill>
            <a:srgbClr val="FFFBF0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41"/>
          <p:cNvSpPr/>
          <p:nvPr/>
        </p:nvSpPr>
        <p:spPr>
          <a:xfrm>
            <a:off x="3246120" y="1572768"/>
            <a:ext cx="2697480" cy="384048"/>
          </a:xfrm>
          <a:prstGeom prst="rect">
            <a:avLst/>
          </a:prstGeom>
          <a:solidFill>
            <a:srgbClr val="D4900A"/>
          </a:solidFill>
          <a:ln cap="flat" cmpd="sng" w="12700">
            <a:solidFill>
              <a:srgbClr val="D4900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1"/>
          <p:cNvSpPr/>
          <p:nvPr/>
        </p:nvSpPr>
        <p:spPr>
          <a:xfrm>
            <a:off x="3355848" y="157276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🟡  중기 (1~3개월)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1"/>
          <p:cNvSpPr/>
          <p:nvPr/>
        </p:nvSpPr>
        <p:spPr>
          <a:xfrm>
            <a:off x="3355848" y="2029968"/>
            <a:ext cx="804672" cy="18288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41"/>
          <p:cNvSpPr/>
          <p:nvPr/>
        </p:nvSpPr>
        <p:spPr>
          <a:xfrm>
            <a:off x="3355848" y="2029968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1"/>
          <p:cNvSpPr/>
          <p:nvPr/>
        </p:nvSpPr>
        <p:spPr>
          <a:xfrm>
            <a:off x="3355848" y="2249424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Organic SEO: home_decor·pet·car_accessories 업종 콘텐츠 집중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4" name="Google Shape;954;p41"/>
          <p:cNvCxnSpPr/>
          <p:nvPr/>
        </p:nvCxnSpPr>
        <p:spPr>
          <a:xfrm>
            <a:off x="3355848" y="2569464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5" name="Google Shape;955;p41"/>
          <p:cNvSpPr/>
          <p:nvPr/>
        </p:nvSpPr>
        <p:spPr>
          <a:xfrm>
            <a:off x="3355848" y="2642616"/>
            <a:ext cx="804672" cy="1828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1"/>
          <p:cNvSpPr/>
          <p:nvPr/>
        </p:nvSpPr>
        <p:spPr>
          <a:xfrm>
            <a:off x="3355848" y="2642616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1"/>
          <p:cNvSpPr/>
          <p:nvPr/>
        </p:nvSpPr>
        <p:spPr>
          <a:xfrm>
            <a:off x="3355848" y="2862072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영업 KPI 전환: 계약 건수 → 14일 내 첫 판매 달성률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8" name="Google Shape;958;p41"/>
          <p:cNvCxnSpPr/>
          <p:nvPr/>
        </p:nvCxnSpPr>
        <p:spPr>
          <a:xfrm>
            <a:off x="3355848" y="3182112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9" name="Google Shape;959;p41"/>
          <p:cNvSpPr/>
          <p:nvPr/>
        </p:nvSpPr>
        <p:spPr>
          <a:xfrm>
            <a:off x="3355848" y="3255264"/>
            <a:ext cx="804672" cy="18288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41"/>
          <p:cNvSpPr/>
          <p:nvPr/>
        </p:nvSpPr>
        <p:spPr>
          <a:xfrm>
            <a:off x="3355848" y="3255264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41"/>
          <p:cNvSpPr/>
          <p:nvPr/>
        </p:nvSpPr>
        <p:spPr>
          <a:xfrm>
            <a:off x="3355848" y="3474720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Manufacturer 전용 45일+ 확장 온보딩 프로그램 설계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2" name="Google Shape;962;p41"/>
          <p:cNvCxnSpPr/>
          <p:nvPr/>
        </p:nvCxnSpPr>
        <p:spPr>
          <a:xfrm>
            <a:off x="3355848" y="3794760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41"/>
          <p:cNvSpPr/>
          <p:nvPr/>
        </p:nvSpPr>
        <p:spPr>
          <a:xfrm>
            <a:off x="3355848" y="3867912"/>
            <a:ext cx="804672" cy="182880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41"/>
          <p:cNvSpPr/>
          <p:nvPr/>
        </p:nvSpPr>
        <p:spPr>
          <a:xfrm>
            <a:off x="3355848" y="3867912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41"/>
          <p:cNvSpPr/>
          <p:nvPr/>
        </p:nvSpPr>
        <p:spPr>
          <a:xfrm>
            <a:off x="3355848" y="4087368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Shark × Reseller 리드 발생 시 최상위 SDR 즉각 배정 체계 수립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6" name="Google Shape;966;p41"/>
          <p:cNvCxnSpPr/>
          <p:nvPr/>
        </p:nvCxnSpPr>
        <p:spPr>
          <a:xfrm>
            <a:off x="3355848" y="4407408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7" name="Google Shape;967;p41"/>
          <p:cNvSpPr/>
          <p:nvPr/>
        </p:nvSpPr>
        <p:spPr>
          <a:xfrm>
            <a:off x="3355848" y="4480560"/>
            <a:ext cx="804672" cy="18288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41"/>
          <p:cNvSpPr/>
          <p:nvPr/>
        </p:nvSpPr>
        <p:spPr>
          <a:xfrm>
            <a:off x="3355848" y="4480560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Referral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41"/>
          <p:cNvSpPr/>
          <p:nvPr/>
        </p:nvSpPr>
        <p:spPr>
          <a:xfrm>
            <a:off x="3355848" y="4700016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평점 4.0 미만 셀러 품질 개선 인센티브 운영 (수수료 할인 등)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1"/>
          <p:cNvSpPr/>
          <p:nvPr/>
        </p:nvSpPr>
        <p:spPr>
          <a:xfrm>
            <a:off x="6080760" y="1572768"/>
            <a:ext cx="2697480" cy="329184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41"/>
          <p:cNvSpPr/>
          <p:nvPr/>
        </p:nvSpPr>
        <p:spPr>
          <a:xfrm>
            <a:off x="6080760" y="1572768"/>
            <a:ext cx="2697480" cy="384048"/>
          </a:xfrm>
          <a:prstGeom prst="rect">
            <a:avLst/>
          </a:prstGeom>
          <a:solidFill>
            <a:srgbClr val="555555"/>
          </a:solidFill>
          <a:ln cap="flat" cmpd="sng" w="12700">
            <a:solidFill>
              <a:srgbClr val="555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1"/>
          <p:cNvSpPr/>
          <p:nvPr/>
        </p:nvSpPr>
        <p:spPr>
          <a:xfrm>
            <a:off x="6190488" y="157276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🔵  장기 (3개월+)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41"/>
          <p:cNvSpPr/>
          <p:nvPr/>
        </p:nvSpPr>
        <p:spPr>
          <a:xfrm>
            <a:off x="6190488" y="2029968"/>
            <a:ext cx="804672" cy="18288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41"/>
          <p:cNvSpPr/>
          <p:nvPr/>
        </p:nvSpPr>
        <p:spPr>
          <a:xfrm>
            <a:off x="6190488" y="2029968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1"/>
          <p:cNvSpPr/>
          <p:nvPr/>
        </p:nvSpPr>
        <p:spPr>
          <a:xfrm>
            <a:off x="6190488" y="2249424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Direct Traffic 확대: 오프라인 사업자 타겟 브랜드 캠페인 집행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6" name="Google Shape;976;p41"/>
          <p:cNvCxnSpPr/>
          <p:nvPr/>
        </p:nvCxnSpPr>
        <p:spPr>
          <a:xfrm>
            <a:off x="6190488" y="2569464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7" name="Google Shape;977;p41"/>
          <p:cNvSpPr/>
          <p:nvPr/>
        </p:nvSpPr>
        <p:spPr>
          <a:xfrm>
            <a:off x="6190488" y="2642616"/>
            <a:ext cx="804672" cy="182880"/>
          </a:xfrm>
          <a:prstGeom prst="rect">
            <a:avLst/>
          </a:prstGeom>
          <a:solidFill>
            <a:srgbClr val="1E8449"/>
          </a:solidFill>
          <a:ln cap="flat" cmpd="sng" w="12700">
            <a:solidFill>
              <a:srgbClr val="1E8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41"/>
          <p:cNvSpPr/>
          <p:nvPr/>
        </p:nvSpPr>
        <p:spPr>
          <a:xfrm>
            <a:off x="6190488" y="2642616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1"/>
          <p:cNvSpPr/>
          <p:nvPr/>
        </p:nvSpPr>
        <p:spPr>
          <a:xfrm>
            <a:off x="6190488" y="2862072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ML 모델 개선: 계약 전 셀러 자기보고 설문 도입으로 예측력 강화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0" name="Google Shape;980;p41"/>
          <p:cNvCxnSpPr/>
          <p:nvPr/>
        </p:nvCxnSpPr>
        <p:spPr>
          <a:xfrm>
            <a:off x="6190488" y="3182112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1" name="Google Shape;981;p41"/>
          <p:cNvSpPr/>
          <p:nvPr/>
        </p:nvSpPr>
        <p:spPr>
          <a:xfrm>
            <a:off x="6190488" y="3255264"/>
            <a:ext cx="804672" cy="182880"/>
          </a:xfrm>
          <a:prstGeom prst="rect">
            <a:avLst/>
          </a:prstGeom>
          <a:solidFill>
            <a:srgbClr val="7D3C98"/>
          </a:solidFill>
          <a:ln cap="flat" cmpd="sng" w="12700">
            <a:solidFill>
              <a:srgbClr val="7D3C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41"/>
          <p:cNvSpPr/>
          <p:nvPr/>
        </p:nvSpPr>
        <p:spPr>
          <a:xfrm>
            <a:off x="6190488" y="3255264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1"/>
          <p:cNvSpPr/>
          <p:nvPr/>
        </p:nvSpPr>
        <p:spPr>
          <a:xfrm>
            <a:off x="6190488" y="3474720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위험 카테고리(가구·대형 가전) 신규 셀러 Olist Fulfillment 의무화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4" name="Google Shape;984;p41"/>
          <p:cNvCxnSpPr/>
          <p:nvPr/>
        </p:nvCxnSpPr>
        <p:spPr>
          <a:xfrm>
            <a:off x="6190488" y="3794760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5" name="Google Shape;985;p41"/>
          <p:cNvSpPr/>
          <p:nvPr/>
        </p:nvSpPr>
        <p:spPr>
          <a:xfrm>
            <a:off x="6190488" y="3867912"/>
            <a:ext cx="804672" cy="182880"/>
          </a:xfrm>
          <a:prstGeom prst="rect">
            <a:avLst/>
          </a:prstGeom>
          <a:solidFill>
            <a:srgbClr val="B7950B"/>
          </a:solidFill>
          <a:ln cap="flat" cmpd="sng" w="12700">
            <a:solidFill>
              <a:srgbClr val="B795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41"/>
          <p:cNvSpPr/>
          <p:nvPr/>
        </p:nvSpPr>
        <p:spPr>
          <a:xfrm>
            <a:off x="6190488" y="3867912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1"/>
          <p:cNvSpPr/>
          <p:nvPr/>
        </p:nvSpPr>
        <p:spPr>
          <a:xfrm>
            <a:off x="6190488" y="4087368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Referral 추천 프로그램 볼륨 확대 (A등급 비율 55.6%)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8" name="Google Shape;988;p41"/>
          <p:cNvCxnSpPr/>
          <p:nvPr/>
        </p:nvCxnSpPr>
        <p:spPr>
          <a:xfrm>
            <a:off x="6190488" y="4407408"/>
            <a:ext cx="2478024" cy="0"/>
          </a:xfrm>
          <a:prstGeom prst="straightConnector1">
            <a:avLst/>
          </a:prstGeom>
          <a:noFill/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9" name="Google Shape;989;p41"/>
          <p:cNvSpPr/>
          <p:nvPr/>
        </p:nvSpPr>
        <p:spPr>
          <a:xfrm>
            <a:off x="6190488" y="4480560"/>
            <a:ext cx="804672" cy="18288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41"/>
          <p:cNvSpPr/>
          <p:nvPr/>
        </p:nvSpPr>
        <p:spPr>
          <a:xfrm>
            <a:off x="6190488" y="4480560"/>
            <a:ext cx="8046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1"/>
          <p:cNvSpPr/>
          <p:nvPr/>
        </p:nvSpPr>
        <p:spPr>
          <a:xfrm>
            <a:off x="6190488" y="4700016"/>
            <a:ext cx="2496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UTM 전면 정비 완료 후 Unknown 트래픽 실제 채널 재분류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2"/>
          <p:cNvSpPr/>
          <p:nvPr/>
        </p:nvSpPr>
        <p:spPr>
          <a:xfrm>
            <a:off x="457200" y="4572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분석의 한계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42"/>
          <p:cNvSpPr/>
          <p:nvPr/>
        </p:nvSpPr>
        <p:spPr>
          <a:xfrm>
            <a:off x="457200" y="1097280"/>
            <a:ext cx="54864" cy="50292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2"/>
          <p:cNvSpPr/>
          <p:nvPr/>
        </p:nvSpPr>
        <p:spPr>
          <a:xfrm>
            <a:off x="640080" y="10972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비용 데이터 부재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42"/>
          <p:cNvSpPr/>
          <p:nvPr/>
        </p:nvSpPr>
        <p:spPr>
          <a:xfrm>
            <a:off x="640080" y="135331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B8C8"/>
                </a:solidFill>
                <a:latin typeface="Calibri"/>
                <a:ea typeface="Calibri"/>
                <a:cs typeface="Calibri"/>
                <a:sym typeface="Calibri"/>
              </a:rPr>
              <a:t>진짜 ROI 산출 불가. MQL당 매출로 대리 측정.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42"/>
          <p:cNvSpPr/>
          <p:nvPr/>
        </p:nvSpPr>
        <p:spPr>
          <a:xfrm>
            <a:off x="457200" y="1737360"/>
            <a:ext cx="54864" cy="50292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42"/>
          <p:cNvSpPr/>
          <p:nvPr/>
        </p:nvSpPr>
        <p:spPr>
          <a:xfrm>
            <a:off x="640080" y="17373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Unknown 정체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42"/>
          <p:cNvSpPr/>
          <p:nvPr/>
        </p:nvSpPr>
        <p:spPr>
          <a:xfrm>
            <a:off x="640080" y="199339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B8C8"/>
                </a:solidFill>
                <a:latin typeface="Calibri"/>
                <a:ea typeface="Calibri"/>
                <a:cs typeface="Calibri"/>
                <a:sym typeface="Calibri"/>
              </a:rPr>
              <a:t>UTM 누락 가설 가장 설득력 있으나, referrer 로그 분석 선행 필요.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42"/>
          <p:cNvSpPr/>
          <p:nvPr/>
        </p:nvSpPr>
        <p:spPr>
          <a:xfrm>
            <a:off x="457200" y="2377440"/>
            <a:ext cx="54864" cy="50292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2"/>
          <p:cNvSpPr/>
          <p:nvPr/>
        </p:nvSpPr>
        <p:spPr>
          <a:xfrm>
            <a:off x="640080" y="23774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모델 한계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42"/>
          <p:cNvSpPr/>
          <p:nvPr/>
        </p:nvSpPr>
        <p:spPr>
          <a:xfrm>
            <a:off x="640080" y="263347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B8C8"/>
                </a:solidFill>
                <a:latin typeface="Calibri"/>
                <a:ea typeface="Calibri"/>
                <a:cs typeface="Calibri"/>
                <a:sym typeface="Calibri"/>
              </a:rPr>
              <a:t>AUC 0.714 — 셀러 속성 데이터는 계약 후에만 수집되어 사전 예측에 근본적 한계.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42"/>
          <p:cNvSpPr/>
          <p:nvPr/>
        </p:nvSpPr>
        <p:spPr>
          <a:xfrm>
            <a:off x="457200" y="3017520"/>
            <a:ext cx="54864" cy="502920"/>
          </a:xfrm>
          <a:prstGeom prst="rect">
            <a:avLst/>
          </a:prstGeom>
          <a:solidFill>
            <a:srgbClr val="2E86C1"/>
          </a:solidFill>
          <a:ln cap="flat" cmpd="sng" w="12700">
            <a:solidFill>
              <a:srgbClr val="2E8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42"/>
          <p:cNvSpPr/>
          <p:nvPr/>
        </p:nvSpPr>
        <p:spPr>
          <a:xfrm>
            <a:off x="640080" y="30175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2017년 표본 부족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42"/>
          <p:cNvSpPr/>
          <p:nvPr/>
        </p:nvSpPr>
        <p:spPr>
          <a:xfrm>
            <a:off x="640080" y="32735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8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0B8C8"/>
                </a:solidFill>
                <a:latin typeface="Calibri"/>
                <a:ea typeface="Calibri"/>
                <a:cs typeface="Calibri"/>
                <a:sym typeface="Calibri"/>
              </a:rPr>
              <a:t>일부 채널 분석 신뢰도 낮음. 결론 해석 시 주의 필요.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42"/>
          <p:cNvSpPr/>
          <p:nvPr/>
        </p:nvSpPr>
        <p:spPr>
          <a:xfrm>
            <a:off x="5029200" y="914400"/>
            <a:ext cx="3703320" cy="365760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42"/>
          <p:cNvSpPr/>
          <p:nvPr/>
        </p:nvSpPr>
        <p:spPr>
          <a:xfrm>
            <a:off x="5029200" y="2286005"/>
            <a:ext cx="370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4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70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07080"/>
                </a:solidFill>
                <a:latin typeface="Calibri"/>
                <a:ea typeface="Calibri"/>
                <a:cs typeface="Calibri"/>
                <a:sym typeface="Calibri"/>
              </a:rPr>
              <a:t>© 2026 Olist Business Analysis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