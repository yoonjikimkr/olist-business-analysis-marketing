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6400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5413248" y="365760"/>
            <a:ext cx="3474720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5413248" y="2651760"/>
            <a:ext cx="347472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02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B2B Marketing Analytics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9144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모집 채널별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극대화 전략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45720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채널로 모집된 셀러가 실제 플랫폼 매출로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전 과정을 데이터로 추적 — 채널별 ROI 산출 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배분 전략 제안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520440"/>
            <a:ext cx="1097280" cy="777240"/>
          </a:xfrm>
          <a:prstGeom prst="rect">
            <a:avLst/>
          </a:prstGeom>
          <a:solidFill>
            <a:srgbClr val="1A3E60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8,000명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MQL 유입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645920" y="3520440"/>
            <a:ext cx="1097280" cy="777240"/>
          </a:xfrm>
          <a:prstGeom prst="rect">
            <a:avLst/>
          </a:prstGeom>
          <a:solidFill>
            <a:srgbClr val="1A3E60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4592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592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전환율(CVR)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834640" y="3520440"/>
            <a:ext cx="1097280" cy="777240"/>
          </a:xfrm>
          <a:prstGeom prst="rect">
            <a:avLst/>
          </a:prstGeom>
          <a:solidFill>
            <a:srgbClr val="1A3E60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3464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R$23,521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83464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스타셀러 LTV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023360" y="3520440"/>
            <a:ext cx="1097280" cy="777240"/>
          </a:xfrm>
          <a:prstGeom prst="rect">
            <a:avLst/>
          </a:prstGeom>
          <a:solidFill>
            <a:srgbClr val="1A3E60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02336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AARRR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02336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프레임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57200" y="46634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Dataset  ·  MQL + Closed Deals + E-commerce  ·  Antigravity Analytics Team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6012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구조: AARRR 프레임워크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채널 → 셀러 생애주기 전 단계 추적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554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55448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MQL 유입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채널에서 셀러가 들어오는가?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57984" y="1508760"/>
            <a:ext cx="1554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57984" y="1508760"/>
            <a:ext cx="1554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49424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9424" y="26974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전환율·골든타임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후 계약·첫 판매까지 얼마나 걸리나?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9424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58768" y="1508760"/>
            <a:ext cx="1554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58768" y="1508760"/>
            <a:ext cx="15544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3950208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50208" y="26974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군집·LTV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셀러가 가장 높은 매출을 만드는가?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50208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59552" y="1508760"/>
            <a:ext cx="1554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1508760"/>
            <a:ext cx="15544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5650992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50992" y="26974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스타셀러 성장곡선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우량 셀러는 어떻게 성장하는가?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50992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60336" y="1508760"/>
            <a:ext cx="1554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0336" y="1508760"/>
            <a:ext cx="15544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7351776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51776" y="26974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NLP·품질 분석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품질이 플랫폼 신뢰도에 미치는 영향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51776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6712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 4가지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분석의 결론을 한 슬라이드에 압축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채널이 GMV 1위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R$206,996 · Paid Search R$152,797 로 전체 GMV의 60%+ 기여.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Social은 유입량 많지만 셀러당 LTV 최하위권.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73152" cy="1417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15일 골든타임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14일 이내 계약 셀러의 활성화율 54.7% vs 초과 시 35.3%.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영업팀의 초기 온보딩 속도가 ROI를 결정함.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스타 셀러 LTV 격차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평균 LTV R$23,521 vs 등급4 R$123 → 191배 차이.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shark 프로파일 조합이 최고 LTV 산출.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154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154680"/>
            <a:ext cx="73152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배송이 리뷰를 결정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20일 초과 시 평점 2점대 이하로 급락.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리뷰 중앙값이 일반 셀러보다 유의미하게 높음.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63624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AARRR 전체 퍼널 통과율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8,000명 MQL에서 고성과(A등급) 셀러까지의 여정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0352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508760"/>
            <a:ext cx="2743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0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MQL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26480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8,000명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2313432"/>
            <a:ext cx="2743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전환(Won)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2587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842명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06640" y="2587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3118104"/>
            <a:ext cx="2743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발생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26480" y="3392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380명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06640" y="3392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89320" y="3922776"/>
            <a:ext cx="2743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26480" y="39867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고성과(A등급)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6480" y="4197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95명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06640" y="4197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89320" y="4681728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4681728"/>
            <a:ext cx="64008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477316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퍼널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유입 대비 단 1.19%만이 고성과 셀러로 성장. 초기 채널 선별이 전체 ROI의 출발점이다.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모수보다 '어떤 채널에서 왔는가'와 '얼마나 빨리 온보딩됐는가'가 최종 성과를 결정함.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63624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채널별 누적 매출(GMV) 기여도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채널에서 온 셀러가 실제 플랫폼 매출을 만들었는가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41732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417320"/>
            <a:ext cx="54864" cy="548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463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46520" y="1655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R$206,996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18120" y="16550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2075688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75688"/>
            <a:ext cx="54864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1214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4652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R$213,484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18120" y="23134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2734056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2734056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4652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R$152,797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18120" y="2971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3392424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392424"/>
            <a:ext cx="54864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4381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3630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R$43,418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818120" y="3630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09360" y="4050792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0" y="4050792"/>
            <a:ext cx="54864" cy="5486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0965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46520" y="42885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R$17,887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18120" y="4288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4681728"/>
            <a:ext cx="5669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7731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채널별 GMV 핵심 발견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+ Paid Search 두 채널이 GMV의 54.6% 차지. 소셜은 유입량 대비 기여도가 낮아 비효율적.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전환율(CVR) × 영업주기(Sales Cycle)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채널이 가장 빠르고 효율적으로 셀러를 계약까지 이끄는가?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57784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463040"/>
            <a:ext cx="25603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463040"/>
            <a:ext cx="54864" cy="5394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499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1700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12.3%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영업주기 15일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2112264"/>
            <a:ext cx="25603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2112264"/>
            <a:ext cx="54864" cy="5394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55080" y="2350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11.9%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43800" y="2350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영업주기 15일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2761488"/>
            <a:ext cx="25603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761488"/>
            <a:ext cx="54864" cy="5394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5080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5.6%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43800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영업주기 30일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3410712"/>
            <a:ext cx="25603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3410712"/>
            <a:ext cx="54864" cy="5394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3447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Traffic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55080" y="3648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11.3%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43800" y="36484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영업주기 11일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17920" y="4059936"/>
            <a:ext cx="25603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4059936"/>
            <a:ext cx="54864" cy="53949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4096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55080" y="4297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8.5%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543800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영업주기 18일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68172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773168"/>
            <a:ext cx="5376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Activation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Search: CVR 12.3%, 15일 영업주기 — 전환 효율·속도 모두 최상위.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CVR 5.6%, 30일 — 비용 대비 효과 최하위. 예산 재배분 필요.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871216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· GOLDEN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15일 골든타임: 계약 속도가 활성화율을 결정한다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전환 속도가 셀러의 실제 판매 개시 확률을 좌우함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3891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17320"/>
            <a:ext cx="2880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417320"/>
            <a:ext cx="2880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54533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전환 활성화율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70448" y="174650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870448" y="222199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14일 이내 계약 완료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97480"/>
            <a:ext cx="2880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697480"/>
            <a:ext cx="2880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282549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전환 활성화율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70448" y="302666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70448" y="350215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14일 초과 소요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977640"/>
            <a:ext cx="2880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977640"/>
            <a:ext cx="28803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410565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활성화율 차이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70448" y="4306824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+19.4%p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870448" y="478231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온보딩의 추가 가치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68172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773168"/>
            <a:ext cx="51023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골든타임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14일 이내 계약 시 활성화율이 19.4%p 높다 — 영업팀이 첫 접촉 후 2주 내 계약·온보딩을 마치는 SOP 수립이 필수.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채널별로는 Paid Search가 영업주기 15일로 골든타임 내 처리 비율이 가장 높음.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K-MEANS 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K-Means 군집 분석: 스타 셀러 식별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매출액(Monetary) × 판매 빈도(Frequency) 기반 4-클러스터 분류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41732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417320"/>
            <a:ext cx="54864" cy="7315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472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691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R$23,521 평균 LTV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매출·빈도 모두 최상위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핵심 자산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228600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286000"/>
            <a:ext cx="54864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3408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2560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R$3,998 평균 LTV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27706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중상위 안정적 판매자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315468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154680"/>
            <a:ext cx="54864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2095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R$844 평균 LTV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72200" y="3639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저빈도·저매출 일반형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35040" y="4023360"/>
            <a:ext cx="27432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402336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078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4297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R$123 평균 LTV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2200" y="4507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비활성 셀러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681728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773168"/>
            <a:ext cx="5376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군집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LTV는 등급4 대비 191배. 소수의 스타 셀러가 플랫폼 수익의 절대 다수를 담당함.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87121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LTV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군집별 평균 LTV(매출액) 비교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셀러와 일반 셀러 간의 압도적 LTV 격차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17320"/>
            <a:ext cx="2834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417320"/>
            <a:ext cx="28346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6168" y="15453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LTV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16168" y="174650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R$23,521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16168" y="22219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군집 중 압도적 1위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265176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651760"/>
            <a:ext cx="283464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16168" y="27797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2 LTV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16168" y="29809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R$3,998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916168" y="345643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대비 17% 수준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379476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379476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16168" y="39227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격차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16168" y="41239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×191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916168" y="459943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vs 등급 4 비교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68172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773168"/>
            <a:ext cx="51023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LTV 격차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1명의 LTV가 등급4 셀러 191명의 LTV와 동등. 스타 셀러 조기 발굴·전담 관리가 ROI 극대화의 핵심 레버.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7180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LTV PER CHANNEL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셀러당 평균 LTV (GMV per Seller)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1명당 평균 생애 매출 — 채널 ROI의 핵심 지표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채널 LTV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Search(R$1,832, 113명)가 양과 질 모두 균형 잡힌 최고 채널. Referral(R$1,987)은 LTV 높으나 모수(9명)가 작아 확장성 한계 존재.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Social은 31명 셀러 평균 R$1,403으로 Search 채널 대비 18~24% 낮은 LTV를 보임.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072384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LEAD PROFILE LTV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 행동 프로파일별 평균 LTV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shark·eagle·cat 프로파일이 플랫폼에 가장 높은 가치를 창출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0352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463040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463040"/>
            <a:ext cx="54864" cy="6675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(대형/전문)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1728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R$4,716 avg LTV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1938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공격적 영업형 — 최고 LTV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267712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267712"/>
            <a:ext cx="54864" cy="6675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(집중/성장)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2532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R$1,814 avg LTV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27432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잠재력 높은 중견형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3072384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072384"/>
            <a:ext cx="54864" cy="66751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(소형/입문)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3337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R$1,543 avg LTV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35478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소량이지만 꾸준한 안정형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89320" y="3877056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3877056"/>
            <a:ext cx="54864" cy="6675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 (공격적/대량)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41422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R$497 avg LTV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26480" y="43525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다건 거래 but 저단가 성향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681728"/>
            <a:ext cx="5532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773168"/>
            <a:ext cx="53309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프로파일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프로파일의 LTV가 wolf 대비 9.5배. Paid Search로 유입된 shark 셀러에게 전담 KAM을 즉시 배정하는 VIP 파이프라인 구축이 ROI 극대화의 핵심.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7764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CHANNEL × PROFILE 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× 리드 프로파일 교차 LTV 히트맵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타겟 페르소나 도출 — 어느 채널에서 어떤 셀러를 잡아야 하는가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핵심 타겟 조합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× shark(대형/전문) = R$14,200 (3명) — 단 3명이 만들어낸 최고 LTV 조합.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× 고양이(입문) = R$2,554 (56명) — 규모 확장성이 가장 높은 안정 채널·프로파일 조합.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77647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SEGMENT × LEAD TYPE LTV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세그먼트 &amp; 리드 타입별 평균 LTV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× online_big 조합이 플랫폼 최고 LTV를 기록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세그먼트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× online_big 조합이 R$100,000+ 수준으로 압도적 최고 LTV.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home_appliances × online_big / pet × online_small 조합도 고LTV 타겟군. 이 카테고리 셀러 모집을 특화 캠페인으로 집중 공략 권장.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72968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INVESTMENT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마케팅 투자 우선순위 매트릭스 (CVR × LTV)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전환율과 셀러 LTV를 동시에 고려한 예산 배분 전략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943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41732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1417320"/>
            <a:ext cx="54864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 투자 (우상단)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720840" y="1655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· Paid Search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2084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증액 및 현행 전략 유지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583680" y="228600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286000"/>
            <a:ext cx="54864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2331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 개선 (좌상단)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20840" y="25237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Email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20840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LTV는 높으나 CVR 낮음 — 온보딩 프로세스 개선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83680" y="315468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3154680"/>
            <a:ext cx="54864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3200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효율화 (우하단)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20840" y="3392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Traffic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2084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좋으나 LTV 낮음 — 고단가 카테고리 유도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83680" y="4023360"/>
            <a:ext cx="21488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402336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069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축소·전환 (좌하단)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20840" y="42611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· Display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20840" y="4453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대폭 삭감 또는 타겟 재설정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STAR SELLER 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채널별 스타 셀러 배출 비율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입점 의지가 강한 검색 채널 셀러가 우량 셀러로 성장하는 비율이 높다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스타 셀러 채널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Search(4.0%)와 Organic Search(3.6%)는 Social(6.5%) 대비 낮은 비율처럼 보이지만, Social의 'other'(50%)는 모수가 2명으로 통계적으로 유의하지 않음.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채널은 대규모 모수에서 안정적으로 스타 셀러를 배출 — 확장 가능한 유일한 고효율 채널.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7472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STAR SELLER GROWTH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그룹의 월별 총 판매 성장 곡선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우량 셀러가 일단 성장 궤도에 오르면 플랫폼 매출을 견인함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리텐션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2016-09 사실상 0원에서 2017-11 블랙프라이데이 R$750,000+ 최고점 달성. 블랙프라이데이 시즌 전 스타 셀러 재고·물류 역량 집중 지원이 매출 극대화의 핵심.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2018년 이후 R$450,000~700,000 안정 구간 진입 — 스타 셀러 이탈 방지가 플랫폼 수익 기반 유지에 필수.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6946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REVIEW NLP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리뷰 분석: 플랫폼 신뢰도의 본질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 리뷰는 배송 품질, 부정 리뷰는 배송 지연·환불 불만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429768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25196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5점 만점 비율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48640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57.8%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532888" y="425196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24328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4~5점 긍정 비율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24328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08576" y="425196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0016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1점 불만 비율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700016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684264" y="425196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75704" y="4279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별점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775704" y="44622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7706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NLP KEYWORDS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키워드 분석 + 채널별 평균 리뷰 점수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배송이 만족도를 결정하며, Search 채널 셀러가 최고 품질을 유지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3520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71600"/>
            <a:ext cx="3520440" cy="3520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NLP + 채널 품질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 리뷰 1위 키워드: '추천(recomendo)' · '배달(entrega)' · '품질(qualidade)'.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Search·Referral 채널 셀러의 평균 리뷰 4.36 — Social·Display 대비 0.65~0.73점 높음. 채널이 셀러 품질을 결정함.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374136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DELIVERY vs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소요일과 고객 리뷰 점수 상관관계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20일 초과 시 평점이 2점 이하로 수직 낙하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63040"/>
            <a:ext cx="2377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463040"/>
            <a:ext cx="5486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536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~10일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37960" y="1764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4.2점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 구간 — 셀러 목표선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2560320"/>
            <a:ext cx="2377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2560320"/>
            <a:ext cx="54864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633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10~20일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37960" y="2862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3.5점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만족도 급락 시작 구간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3657600"/>
            <a:ext cx="2377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3657600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20일+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39593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1~2점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3796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이탈·리뷰 폭탄 위험 구간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77647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SEGMENT REVIEW 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세그먼트별 고객 리뷰 점수 분포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sports_leisure·books·small_appliances 카테고리가 가장 높은 5점 비율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카테고리 품질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sports_leisure 5점 비율 80%, books 70.2%, small_appliances 72.5% — 고품질 카테고리군.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phone_mobile 5점 비율 42%로 최하위 — 제품 결함·AS 이슈로 인한 불만 집중. 해당 카테고리 셀러 품질 기준 강화 필요.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7588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· STAR vs NORMAL SELLER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vs 일반 셀러: 리뷰 점수 분포 비교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1등 셀러는 고객 만족도도 높다 — 선순환 구조의 증명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297680" cy="3520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3520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4681728"/>
            <a:ext cx="64008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773168"/>
            <a:ext cx="80284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스타 셀러 품질 선순환 인사이트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리뷰 중앙값이 일반 셀러보다 유의미하게 높고 편차가 작음.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 분석: 스타 셀러의 IQR이 4.0~4.3으로 안정적. 매출과 품질은 양방향으로 강화되는 선순환 구조임.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BUDGET ALLOCATION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예산 배분 전략 제안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채널별 투자 우선순위 및 실행 방향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Organic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618488"/>
            <a:ext cx="68580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184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유지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892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현행 유지 + SEO 강화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1위(R$206,996), LTV R$1,832, CVR 11.9%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SEO·랜딩페이지 최적화로 자연 유입 극대화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50876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08760"/>
            <a:ext cx="73152" cy="15087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Paid Search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1618488"/>
            <a:ext cx="685800" cy="21945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6184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증액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1892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70% 집중 배정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12.3% (최고), 영업주기 15일, LTV R$1,537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프로파일 타겟 광고 문안 특화 집행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1508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Referral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3310128"/>
            <a:ext cx="685800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3101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 투자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584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 개선 프로그램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R$1,987 (2위), 단 CVR 8.5%·모수 9명으로 낮음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파트너사 협업 확대 + 레퍼럴 온보딩 개선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2004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200400"/>
            <a:ext cx="73152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291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Social Media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92440" y="3310128"/>
            <a:ext cx="6858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3101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삭감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3480" y="3584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대폭 삭감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840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5.6%(최하위), 영업주기 30일, LTV R$1,403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유입량 대비 전환·LTV 모두 비효율 — 리타겟팅으로 전환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747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VIP SELLER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셀러 파이프라인 &amp; 물류 인센티브 시스템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 셀러 조기 발굴 → 전담 관리 → 이탈 방지의 선순환 설계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0604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 (Identify)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Paid/Organic Search 유입 확인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또는 eagle 프로파일 해당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watches·home_appliances 카테고리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online_big 리드 타입 조건 충족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017520"/>
            <a:ext cx="228600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50876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2606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(Convert)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14일 내 계약 완료 (골든타임)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9077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KAM 즉시 배정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온보딩 패키지 제공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96849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15일 이내 첫 판매 목표 수립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3017520"/>
            <a:ext cx="228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0876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50876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 (Retain)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3774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LTV 모니터링 대시보드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9077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5점 유지 셀러 수수료 감면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블랙프라이데이 전 재고 지원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396849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저평점 셀러 개선 SLA 적용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채널에 집중하면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ROI가 달라진다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Paid + Organic Search에 마케팅 예산 70%+ 집중 배분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946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14일 골든타임 SOP 수립 — 영업팀 온보딩 프로세스 표준화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Paid Search × shark 조합 VIP 파이프라인으로 스타 셀러 조기 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배송 10일 이내 유지 인센티브 + 지연 셀러 페널티 시스템 도입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3133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Social·Display 예산 삭감 → 고효율 채널로 재배분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B2B Marketing Analytics  ·  AARRR Framework  ·  Antigravity Analytics Team  · 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셀러 모집 채널별 ROI 극대화 전략</dc:title>
  <dc:subject>PptxGenJS Presentation</dc:subject>
  <dc:creator>PptxGenJS</dc:creator>
  <cp:lastModifiedBy>PptxGenJS</cp:lastModifiedBy>
  <cp:revision>1</cp:revision>
  <dcterms:created xsi:type="dcterms:W3CDTF">2026-04-17T13:40:58Z</dcterms:created>
  <dcterms:modified xsi:type="dcterms:W3CDTF">2026-04-17T13:40:58Z</dcterms:modified>
</cp:coreProperties>
</file>